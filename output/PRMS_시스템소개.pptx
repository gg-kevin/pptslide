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handoutMasterIdLst>
    <p:handoutMasterId r:id="rId7"/>
  </p:handoutMasterIdLst>
  <p:sldIdLst>
    <p:sldId id="256" r:id="rId5"/>
    <p:sldId id="257" r:id="rId4"/>
    <p:sldId id="258" r:id="rId3"/>
    <p:sldId id="259" r:id="rId2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797675" cy="98726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6" userDrawn="1">
          <p15:clr>
            <a:srgbClr val="A4A3A4"/>
          </p15:clr>
        </p15:guide>
        <p15:guide id="2" pos="22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0033CC"/>
    <a:srgbClr val="3333CC"/>
    <a:srgbClr val="C80000"/>
    <a:srgbClr val="FF9900"/>
    <a:srgbClr val="33CC33"/>
    <a:srgbClr val="0F398F"/>
    <a:srgbClr val="144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0" autoAdjust="0"/>
    <p:restoredTop sz="96804" autoAdjust="0"/>
  </p:normalViewPr>
  <p:slideViewPr>
    <p:cSldViewPr>
      <p:cViewPr varScale="1">
        <p:scale>
          <a:sx n="121" d="100"/>
          <a:sy n="121" d="100"/>
        </p:scale>
        <p:origin x="132" y="222"/>
      </p:cViewPr>
      <p:guideLst>
        <p:guide orient="horz" pos="3566"/>
        <p:guide pos="2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348" y="-96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3FE285-BCD1-454B-9ABB-5ACA170B4AC4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4F7B0F9-2746-47D6-B1C4-A25D92A1EC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463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BC6DEE9-2C2A-46E0-8D0A-0B2A7434BF60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5" tIns="45568" rIns="91135" bIns="45568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688721"/>
            <a:ext cx="5438775" cy="4444286"/>
          </a:xfrm>
          <a:prstGeom prst="rect">
            <a:avLst/>
          </a:prstGeom>
        </p:spPr>
        <p:txBody>
          <a:bodyPr vert="horz" lIns="91135" tIns="45568" rIns="91135" bIns="45568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6FC4998-0E65-4FC5-9425-339769C5A7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5673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50" indent="-285750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38" indent="-254000">
              <a:lnSpc>
                <a:spcPts val="2160"/>
              </a:lnSpc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8038" indent="-268288">
              <a:lnSpc>
                <a:spcPts val="2100"/>
              </a:lnSpc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938" indent="-134938"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60000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/>
          <a:lstStyle>
            <a:lvl1pPr marL="0" indent="0" algn="l" rtl="0" eaLnBrk="1" fontAlgn="base" latinLnBrk="1" hangingPunct="1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5082998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36F77048-831F-4214-AFB5-F686D2A46E25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82742" y="764704"/>
            <a:ext cx="7621770" cy="5871046"/>
          </a:xfrm>
          <a:prstGeom prst="rect">
            <a:avLst/>
          </a:prstGeom>
        </p:spPr>
        <p:txBody>
          <a:bodyPr/>
          <a:lstStyle>
            <a:lvl1pPr marL="180000" indent="-432000">
              <a:lnSpc>
                <a:spcPct val="200000"/>
              </a:lnSpc>
              <a:buFont typeface="+mj-lt"/>
              <a:buAutoNum type="romanUcPeriod"/>
              <a:defRPr sz="1800" b="1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32000" indent="216000">
              <a:lnSpc>
                <a:spcPts val="1850"/>
              </a:lnSpc>
              <a:buFont typeface="+mj-lt"/>
              <a:buAutoNum type="arabicPeriod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4000" indent="216000">
              <a:lnSpc>
                <a:spcPts val="1850"/>
              </a:lnSpc>
              <a:buFont typeface="+mj-lt"/>
              <a:buAutoNum type="arabicParenR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58110" y="12701"/>
            <a:ext cx="11698530" cy="549275"/>
          </a:xfrm>
          <a:prstGeom prst="rect">
            <a:avLst/>
          </a:prstGeom>
        </p:spPr>
        <p:txBody>
          <a:bodyPr anchor="ctr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67830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9985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09BAF6E-014A-4D9C-B942-1CBCC7133741}" type="datetimeFigureOut">
              <a:rPr lang="ko-KR" altLang="en-US" smtClean="0"/>
              <a:pPr/>
              <a:t>2026. 9. 2.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91C5C8B-181F-4726-B8DF-5AD4BF9F132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24423" y="1052513"/>
            <a:ext cx="10943167" cy="0"/>
          </a:xfrm>
          <a:prstGeom prst="line">
            <a:avLst/>
          </a:prstGeom>
          <a:ln w="571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109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25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lvl2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2pPr>
            <a:lvl3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3pPr>
            <a:lvl4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4pPr>
            <a:lvl5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5pPr>
            <a:extLst/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0" name="제목 6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 rtlCol="0">
            <a:normAutofit/>
          </a:bodyPr>
          <a:lstStyle>
            <a:lvl1pPr>
              <a:defRPr sz="2275">
                <a:solidFill>
                  <a:srgbClr val="002060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.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10883449" y="76526"/>
            <a:ext cx="1150055" cy="2925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500" b="1" dirty="0">
                <a:solidFill>
                  <a:prstClr val="black"/>
                </a:solidFill>
              </a:rPr>
              <a:t>대외비</a:t>
            </a:r>
          </a:p>
        </p:txBody>
      </p:sp>
      <p:pic>
        <p:nvPicPr>
          <p:cNvPr id="9" name="그림 6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49281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34937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666750" y="1544836"/>
            <a:ext cx="10858500" cy="232171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5765" spc="-58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66750" y="3750469"/>
            <a:ext cx="10858500" cy="1023417"/>
          </a:xfrm>
          <a:prstGeom prst="rect">
            <a:avLst/>
          </a:prstGeom>
        </p:spPr>
        <p:txBody>
          <a:bodyPr/>
          <a:lstStyle>
            <a:lvl1pPr marL="0" indent="0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1pPr>
            <a:lvl2pPr marL="0" indent="321457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2pPr>
            <a:lvl3pPr marL="0" indent="642915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3pPr>
            <a:lvl4pPr marL="0" indent="964372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4pPr>
            <a:lvl5pPr marL="0" indent="1285829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66750" y="5913856"/>
            <a:ext cx="10858500" cy="301824"/>
          </a:xfrm>
          <a:prstGeom prst="rect">
            <a:avLst/>
          </a:prstGeom>
        </p:spPr>
        <p:txBody>
          <a:bodyPr/>
          <a:lstStyle>
            <a:lvl1pPr marL="0" indent="0" algn="ctr" defTabSz="400353">
              <a:lnSpc>
                <a:spcPct val="100000"/>
              </a:lnSpc>
              <a:spcBef>
                <a:spcPts val="0"/>
              </a:spcBef>
              <a:buSzTx/>
              <a:buNone/>
              <a:defRPr sz="1364" spc="-13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 Next Medium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65974" y="6418819"/>
            <a:ext cx="261482" cy="223619"/>
          </a:xfrm>
          <a:prstGeom prst="rect">
            <a:avLst/>
          </a:prstGeom>
        </p:spPr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121819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36" indent="-285736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10" indent="-253987">
              <a:lnSpc>
                <a:spcPts val="2160"/>
              </a:lnSpc>
              <a:buSzPct val="100000"/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7997" indent="-268274">
              <a:lnSpc>
                <a:spcPts val="2100"/>
              </a:lnSpc>
              <a:buSzPct val="100000"/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892" indent="-134931">
              <a:buSzPct val="100000"/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869186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51987" indent="-251987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39972" indent="-251987">
              <a:lnSpc>
                <a:spcPts val="2160"/>
              </a:lnSpc>
              <a:buFont typeface="+mj-lt"/>
              <a:buAutoNum type="arabicParenR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3965" indent="-143993">
              <a:lnSpc>
                <a:spcPts val="2100"/>
              </a:lnSpc>
              <a:buFont typeface="맑은 고딕" panose="020B0503020000020004" pitchFamily="50" charset="-127"/>
              <a:buChar char="–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1079945">
              <a:defRPr sz="1400"/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268840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78" r:id="rId3"/>
    <p:sldLayoutId id="2147484582" r:id="rId4"/>
    <p:sldLayoutId id="2147484583" r:id="rId5"/>
    <p:sldLayoutId id="2147484584" r:id="rId6"/>
    <p:sldLayoutId id="2147484585" r:id="rId7"/>
    <p:sldLayoutId id="2147484586" r:id="rId8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개발 배경 및 목적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1001" name="개발 배경"/>
          <p:cNvSpPr txBox="1"/>
          <p:nvPr/>
        </p:nvSpPr>
        <p:spPr>
          <a:xfrm>
            <a:off x="427025" y="1280160"/>
            <a:ext cx="11430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개발 배경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시공 단계의 리스크 관리 시스템 운영 중 : RBE-i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플랜트 건설 프로젝트의 통합 리스크 관리를 위해 설계 · 구매 단계의 리스크 관리 필요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사업본부 신년업무보고 사항 (대표님 보고 내용에 포함)</a:t>
            </a:r>
          </a:p>
        </p:txBody>
      </p:sp>
      <p:sp>
        <p:nvSpPr>
          <p:cNvPr id="1002" name="개발 목적"/>
          <p:cNvSpPr txBox="1"/>
          <p:nvPr/>
        </p:nvSpPr>
        <p:spPr>
          <a:xfrm>
            <a:off x="427025" y="2450592"/>
            <a:ext cx="11430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개발 목적</a:t>
            </a:r>
          </a:p>
        </p:txBody>
      </p:sp>
      <p:sp>
        <p:nvSpPr>
          <p:cNvPr id="1003" name="패널 1"/>
          <p:cNvSpPr/>
          <p:nvPr/>
        </p:nvSpPr>
        <p:spPr>
          <a:xfrm>
            <a:off x="427025" y="2871216"/>
            <a:ext cx="3712464" cy="2286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4" name="패널스트립 1"/>
          <p:cNvSpPr/>
          <p:nvPr/>
        </p:nvSpPr>
        <p:spPr>
          <a:xfrm>
            <a:off x="523549" y="2871216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5" name="패널배지 1"/>
          <p:cNvSpPr/>
          <p:nvPr/>
        </p:nvSpPr>
        <p:spPr>
          <a:xfrm>
            <a:off x="557025" y="3001216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01</a:t>
            </a:r>
          </a:p>
        </p:txBody>
      </p:sp>
      <p:sp>
        <p:nvSpPr>
          <p:cNvPr id="1006" name="패널제목 1"/>
          <p:cNvSpPr txBox="1"/>
          <p:nvPr/>
        </p:nvSpPr>
        <p:spPr>
          <a:xfrm>
            <a:off x="557025" y="3431216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E-P-C 통합 관리</a:t>
            </a:r>
          </a:p>
        </p:txBody>
      </p:sp>
      <p:sp>
        <p:nvSpPr>
          <p:cNvPr id="1007" name="패널부제 1"/>
          <p:cNvSpPr txBox="1"/>
          <p:nvPr/>
        </p:nvSpPr>
        <p:spPr>
          <a:xfrm>
            <a:off x="557025" y="3831216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7A5AA8"/>
                </a:solidFill>
                <a:latin typeface="맑은 고딕"/>
                <a:ea typeface="맑은 고딕"/>
                <a:cs typeface="Arial"/>
              </a:rPr>
              <a:t>선제적 리스크 관리 효율 극대화</a:t>
            </a:r>
          </a:p>
        </p:txBody>
      </p:sp>
      <p:sp>
        <p:nvSpPr>
          <p:cNvPr id="1008" name="패널선 1"/>
          <p:cNvSpPr/>
          <p:nvPr/>
        </p:nvSpPr>
        <p:spPr>
          <a:xfrm>
            <a:off x="557025" y="4081216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9" name="패널본문 1"/>
          <p:cNvSpPr txBox="1"/>
          <p:nvPr/>
        </p:nvSpPr>
        <p:spPr>
          <a:xfrm>
            <a:off x="557025" y="4161216"/>
            <a:ext cx="3452464" cy="8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설계 · 구매 · 시공을 하나의 체계로 연결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사후 대응이 아닌 사전 식별 · 관리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단계 간 정보 단절 해소</a:t>
            </a:r>
          </a:p>
        </p:txBody>
      </p:sp>
      <p:sp>
        <p:nvSpPr>
          <p:cNvPr id="1010" name="패널 2"/>
          <p:cNvSpPr/>
          <p:nvPr/>
        </p:nvSpPr>
        <p:spPr>
          <a:xfrm>
            <a:off x="4285793" y="2871216"/>
            <a:ext cx="3712464" cy="2286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1" name="패널스트립 2"/>
          <p:cNvSpPr/>
          <p:nvPr/>
        </p:nvSpPr>
        <p:spPr>
          <a:xfrm>
            <a:off x="4382317" y="2871216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2" name="패널배지 2"/>
          <p:cNvSpPr/>
          <p:nvPr/>
        </p:nvSpPr>
        <p:spPr>
          <a:xfrm>
            <a:off x="4415793" y="3001216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02</a:t>
            </a:r>
          </a:p>
        </p:txBody>
      </p:sp>
      <p:sp>
        <p:nvSpPr>
          <p:cNvPr id="1013" name="패널제목 2"/>
          <p:cNvSpPr txBox="1"/>
          <p:nvPr/>
        </p:nvSpPr>
        <p:spPr>
          <a:xfrm>
            <a:off x="4415793" y="3431216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전사적 기술 자산화</a:t>
            </a:r>
          </a:p>
        </p:txBody>
      </p:sp>
      <p:sp>
        <p:nvSpPr>
          <p:cNvPr id="1014" name="패널부제 2"/>
          <p:cNvSpPr txBox="1"/>
          <p:nvPr/>
        </p:nvSpPr>
        <p:spPr>
          <a:xfrm>
            <a:off x="4415793" y="3831216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4A63C4"/>
                </a:solidFill>
                <a:latin typeface="맑은 고딕"/>
                <a:ea typeface="맑은 고딕"/>
                <a:cs typeface="Arial"/>
              </a:rPr>
              <a:t>L&amp;L 의 통합적 축적</a:t>
            </a:r>
          </a:p>
        </p:txBody>
      </p:sp>
      <p:sp>
        <p:nvSpPr>
          <p:cNvPr id="1015" name="패널선 2"/>
          <p:cNvSpPr/>
          <p:nvPr/>
        </p:nvSpPr>
        <p:spPr>
          <a:xfrm>
            <a:off x="4415793" y="4081216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6" name="패널본문 2"/>
          <p:cNvSpPr txBox="1"/>
          <p:nvPr/>
        </p:nvSpPr>
        <p:spPr>
          <a:xfrm>
            <a:off x="4415793" y="4161216"/>
            <a:ext cx="3452464" cy="8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프로젝트별로 흩어진 사례를 한 곳에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공종 · 단계별로 분류하여 재사용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동일 실패의 반복 차단</a:t>
            </a:r>
          </a:p>
        </p:txBody>
      </p:sp>
      <p:sp>
        <p:nvSpPr>
          <p:cNvPr id="1017" name="패널 3"/>
          <p:cNvSpPr/>
          <p:nvPr/>
        </p:nvSpPr>
        <p:spPr>
          <a:xfrm>
            <a:off x="8144561" y="2871216"/>
            <a:ext cx="3712464" cy="2286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8" name="패널스트립 3"/>
          <p:cNvSpPr/>
          <p:nvPr/>
        </p:nvSpPr>
        <p:spPr>
          <a:xfrm>
            <a:off x="8241085" y="2871216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9" name="패널배지 3"/>
          <p:cNvSpPr/>
          <p:nvPr/>
        </p:nvSpPr>
        <p:spPr>
          <a:xfrm>
            <a:off x="8274561" y="3001216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03</a:t>
            </a:r>
          </a:p>
        </p:txBody>
      </p:sp>
      <p:sp>
        <p:nvSpPr>
          <p:cNvPr id="1020" name="패널제목 3"/>
          <p:cNvSpPr txBox="1"/>
          <p:nvPr/>
        </p:nvSpPr>
        <p:spPr>
          <a:xfrm>
            <a:off x="8274561" y="3431216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데이터 자산화 기틀</a:t>
            </a:r>
          </a:p>
        </p:txBody>
      </p:sp>
      <p:sp>
        <p:nvSpPr>
          <p:cNvPr id="1021" name="패널부제 3"/>
          <p:cNvSpPr txBox="1"/>
          <p:nvPr/>
        </p:nvSpPr>
        <p:spPr>
          <a:xfrm>
            <a:off x="8274561" y="3831216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2FB3D6"/>
                </a:solidFill>
                <a:latin typeface="맑은 고딕"/>
                <a:ea typeface="맑은 고딕"/>
                <a:cs typeface="Arial"/>
              </a:rPr>
              <a:t>AI 활용을 위한 데이터 수집</a:t>
            </a:r>
          </a:p>
        </p:txBody>
      </p:sp>
      <p:sp>
        <p:nvSpPr>
          <p:cNvPr id="1022" name="패널선 3"/>
          <p:cNvSpPr/>
          <p:nvPr/>
        </p:nvSpPr>
        <p:spPr>
          <a:xfrm>
            <a:off x="8274561" y="4081216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3" name="패널본문 3"/>
          <p:cNvSpPr txBox="1"/>
          <p:nvPr/>
        </p:nvSpPr>
        <p:spPr>
          <a:xfrm>
            <a:off x="8274561" y="4161216"/>
            <a:ext cx="3452464" cy="8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구조화된 형태로 데이터 축적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축적 데이터를 AI 분석에 활용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예측형 리스크 관리의 기반</a:t>
            </a:r>
          </a:p>
        </p:txBody>
      </p:sp>
      <p:sp>
        <p:nvSpPr>
          <p:cNvPr id="1024" name="핵심메시지"/>
          <p:cNvSpPr/>
          <p:nvPr/>
        </p:nvSpPr>
        <p:spPr>
          <a:xfrm>
            <a:off x="427025" y="5760720"/>
            <a:ext cx="11430000" cy="530352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5" name="핵심메시지 액센트"/>
          <p:cNvSpPr/>
          <p:nvPr/>
        </p:nvSpPr>
        <p:spPr>
          <a:xfrm>
            <a:off x="527025" y="5870720"/>
            <a:ext cx="48000" cy="310352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6" name="핵심메시지 문구"/>
          <p:cNvSpPr txBox="1"/>
          <p:nvPr/>
        </p:nvSpPr>
        <p:spPr>
          <a:xfrm>
            <a:off x="667025" y="5760720"/>
            <a:ext cx="110300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확장 방향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시공 단계(RBE-i)에 머물던 리스크 관리를 설계 · 구매 단계까지 넓혀, E-P-C 전 단계를 하나의 체계로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시스템 구성 — 3개 모듈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1027" name="패널 1"/>
          <p:cNvSpPr/>
          <p:nvPr/>
        </p:nvSpPr>
        <p:spPr>
          <a:xfrm>
            <a:off x="427025" y="1280160"/>
            <a:ext cx="3712464" cy="306324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8" name="패널스트립 1"/>
          <p:cNvSpPr/>
          <p:nvPr/>
        </p:nvSpPr>
        <p:spPr>
          <a:xfrm>
            <a:off x="523549" y="1280160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9" name="패널배지 1"/>
          <p:cNvSpPr/>
          <p:nvPr/>
        </p:nvSpPr>
        <p:spPr>
          <a:xfrm>
            <a:off x="557025" y="141016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L&amp;L</a:t>
            </a:r>
          </a:p>
        </p:txBody>
      </p:sp>
      <p:sp>
        <p:nvSpPr>
          <p:cNvPr id="1030" name="패널제목 1"/>
          <p:cNvSpPr txBox="1"/>
          <p:nvPr/>
        </p:nvSpPr>
        <p:spPr>
          <a:xfrm>
            <a:off x="557025" y="1840160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Lessons &amp; Learned</a:t>
            </a:r>
          </a:p>
        </p:txBody>
      </p:sp>
      <p:sp>
        <p:nvSpPr>
          <p:cNvPr id="1031" name="패널부제 1"/>
          <p:cNvSpPr txBox="1"/>
          <p:nvPr/>
        </p:nvSpPr>
        <p:spPr>
          <a:xfrm>
            <a:off x="557025" y="2240160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7A5AA8"/>
                </a:solidFill>
                <a:latin typeface="맑은 고딕"/>
                <a:ea typeface="맑은 고딕"/>
                <a:cs typeface="Arial"/>
              </a:rPr>
              <a:t>과거 사례 축적 · 착수 전 검토</a:t>
            </a:r>
          </a:p>
        </p:txBody>
      </p:sp>
      <p:sp>
        <p:nvSpPr>
          <p:cNvPr id="1032" name="패널선 1"/>
          <p:cNvSpPr/>
          <p:nvPr/>
        </p:nvSpPr>
        <p:spPr>
          <a:xfrm>
            <a:off x="557025" y="2490160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3" name="패널본문 1"/>
          <p:cNvSpPr txBox="1"/>
          <p:nvPr/>
        </p:nvSpPr>
        <p:spPr>
          <a:xfrm>
            <a:off x="557025" y="2570160"/>
            <a:ext cx="3452464" cy="1663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Comprehensive Analytics Dashboard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Review for Project (착수 전 사례 검토)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Case Browser · Review List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17개 공종 × Stage 분류</a:t>
            </a:r>
          </a:p>
        </p:txBody>
      </p:sp>
      <p:sp>
        <p:nvSpPr>
          <p:cNvPr id="1034" name="패널 2"/>
          <p:cNvSpPr/>
          <p:nvPr/>
        </p:nvSpPr>
        <p:spPr>
          <a:xfrm>
            <a:off x="4285793" y="1280160"/>
            <a:ext cx="3712464" cy="306324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5" name="패널스트립 2"/>
          <p:cNvSpPr/>
          <p:nvPr/>
        </p:nvSpPr>
        <p:spPr>
          <a:xfrm>
            <a:off x="4382317" y="1280160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6" name="패널배지 2"/>
          <p:cNvSpPr/>
          <p:nvPr/>
        </p:nvSpPr>
        <p:spPr>
          <a:xfrm>
            <a:off x="4415793" y="141016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TM</a:t>
            </a:r>
          </a:p>
        </p:txBody>
      </p:sp>
      <p:sp>
        <p:nvSpPr>
          <p:cNvPr id="1037" name="패널제목 2"/>
          <p:cNvSpPr txBox="1"/>
          <p:nvPr/>
        </p:nvSpPr>
        <p:spPr>
          <a:xfrm>
            <a:off x="4415793" y="1840160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Trend Management</a:t>
            </a:r>
          </a:p>
        </p:txBody>
      </p:sp>
      <p:sp>
        <p:nvSpPr>
          <p:cNvPr id="1038" name="패널부제 2"/>
          <p:cNvSpPr txBox="1"/>
          <p:nvPr/>
        </p:nvSpPr>
        <p:spPr>
          <a:xfrm>
            <a:off x="4415793" y="2240160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4A63C4"/>
                </a:solidFill>
                <a:latin typeface="맑은 고딕"/>
                <a:ea typeface="맑은 고딕"/>
                <a:cs typeface="Arial"/>
              </a:rPr>
              <a:t>진행 중 변경사항 기록 · 관리</a:t>
            </a:r>
          </a:p>
        </p:txBody>
      </p:sp>
      <p:sp>
        <p:nvSpPr>
          <p:cNvPr id="1039" name="패널선 2"/>
          <p:cNvSpPr/>
          <p:nvPr/>
        </p:nvSpPr>
        <p:spPr>
          <a:xfrm>
            <a:off x="4415793" y="2490160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0" name="패널본문 2"/>
          <p:cNvSpPr txBox="1"/>
          <p:nvPr/>
        </p:nvSpPr>
        <p:spPr>
          <a:xfrm>
            <a:off x="4415793" y="2570160"/>
            <a:ext cx="3452464" cy="1663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Log / Master / Trend 3단 Browser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Log 입력폼 A ~ E 5개 섹션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My Work (담당자별 조치 현황)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Transfer to Master 승급</a:t>
            </a:r>
          </a:p>
        </p:txBody>
      </p:sp>
      <p:sp>
        <p:nvSpPr>
          <p:cNvPr id="1041" name="패널 3"/>
          <p:cNvSpPr/>
          <p:nvPr/>
        </p:nvSpPr>
        <p:spPr>
          <a:xfrm>
            <a:off x="8144561" y="1280160"/>
            <a:ext cx="3712464" cy="306324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2" name="패널스트립 3"/>
          <p:cNvSpPr/>
          <p:nvPr/>
        </p:nvSpPr>
        <p:spPr>
          <a:xfrm>
            <a:off x="8241085" y="1280160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3" name="패널배지 3"/>
          <p:cNvSpPr/>
          <p:nvPr/>
        </p:nvSpPr>
        <p:spPr>
          <a:xfrm>
            <a:off x="8274561" y="141016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RM</a:t>
            </a:r>
          </a:p>
        </p:txBody>
      </p:sp>
      <p:sp>
        <p:nvSpPr>
          <p:cNvPr id="1044" name="패널제목 3"/>
          <p:cNvSpPr txBox="1"/>
          <p:nvPr/>
        </p:nvSpPr>
        <p:spPr>
          <a:xfrm>
            <a:off x="8274561" y="1840160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Risk Management</a:t>
            </a:r>
          </a:p>
        </p:txBody>
      </p:sp>
      <p:sp>
        <p:nvSpPr>
          <p:cNvPr id="1045" name="패널부제 3"/>
          <p:cNvSpPr txBox="1"/>
          <p:nvPr/>
        </p:nvSpPr>
        <p:spPr>
          <a:xfrm>
            <a:off x="8274561" y="2240160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2FB3D6"/>
                </a:solidFill>
                <a:latin typeface="맑은 고딕"/>
                <a:ea typeface="맑은 고딕"/>
                <a:cs typeface="Arial"/>
              </a:rPr>
              <a:t>리스크 평가 · 조치 관리</a:t>
            </a:r>
          </a:p>
        </p:txBody>
      </p:sp>
      <p:sp>
        <p:nvSpPr>
          <p:cNvPr id="1046" name="패널선 3"/>
          <p:cNvSpPr/>
          <p:nvPr/>
        </p:nvSpPr>
        <p:spPr>
          <a:xfrm>
            <a:off x="8274561" y="2490160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7" name="패널본문 3"/>
          <p:cNvSpPr txBox="1"/>
          <p:nvPr/>
        </p:nvSpPr>
        <p:spPr>
          <a:xfrm>
            <a:off x="8274561" y="2570160"/>
            <a:ext cx="3452464" cy="1663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Risk Command Center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Risk Register (4단계 등록)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Action Plan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5×5 Risk Matrix</a:t>
            </a:r>
          </a:p>
        </p:txBody>
      </p:sp>
      <p:graphicFrame>
        <p:nvGraphicFramePr>
          <p:cNvPr id="1048" name="공통 기능"/>
          <p:cNvGraphicFramePr>
            <a:graphicFrameLocks noGrp="1"/>
          </p:cNvGraphicFramePr>
          <p:nvPr/>
        </p:nvGraphicFramePr>
        <p:xfrm>
          <a:off x="427025" y="4572000"/>
          <a:ext cx="11429999" cy="1170432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296185"/>
                <a:gridCol w="3063711"/>
                <a:gridCol w="7070103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Project × Stage × Discipline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3단 필터를 세 모듈에서 동일하게 사용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Import Data / SAVE / Excel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 연동 · 저장, 마스터 목록 일괄 반입 · 반출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Master Lists / Settings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Stage별 Discipline 코드 · 분류 체계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48" name="핵심메시지"/>
          <p:cNvSpPr/>
          <p:nvPr/>
        </p:nvSpPr>
        <p:spPr>
          <a:xfrm>
            <a:off x="427025" y="5852160"/>
            <a:ext cx="11430000" cy="502920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9" name="핵심메시지 액센트"/>
          <p:cNvSpPr/>
          <p:nvPr/>
        </p:nvSpPr>
        <p:spPr>
          <a:xfrm>
            <a:off x="527025" y="5962160"/>
            <a:ext cx="48000" cy="282920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0" name="핵심메시지 문구"/>
          <p:cNvSpPr txBox="1"/>
          <p:nvPr/>
        </p:nvSpPr>
        <p:spPr>
          <a:xfrm>
            <a:off x="667025" y="5852160"/>
            <a:ext cx="110300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공통 프레임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세 모듈 모두 좌측 모듈 내비 · 상단 3단 필터 · 본문의 동일한 화면 구조를 사용한다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모듈 간 데이터 흐름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1051" name="관계 설명"/>
          <p:cNvSpPr txBox="1"/>
          <p:nvPr/>
        </p:nvSpPr>
        <p:spPr>
          <a:xfrm>
            <a:off x="427025" y="1280160"/>
            <a:ext cx="1143000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L&amp;L 은 TM 의 하위 개념이 아니라, 성격이 다른 독자적인 프로그램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L&amp;L 은 과거 사례를 축적 · 검토하는 시스템, TM 은 진행 중 변경사항을 기록 · 관리하는 시스템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그중 프로젝트에 중요한 내용만 TM 으로 이관하여, 하나의 시스템에서 함께 관리</a:t>
            </a:r>
          </a:p>
        </p:txBody>
      </p:sp>
      <p:sp>
        <p:nvSpPr>
          <p:cNvPr id="1052" name="흐름 1"/>
          <p:cNvSpPr/>
          <p:nvPr/>
        </p:nvSpPr>
        <p:spPr>
          <a:xfrm>
            <a:off x="427025" y="2487168"/>
            <a:ext cx="1978761" cy="963777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5400000" scaled="0"/>
          </a:gradFill>
          <a:ln w="9525">
            <a:solidFill>
              <a:srgbClr val="5B4185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L&amp;L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과거 사례 축적 · 검토</a:t>
            </a:r>
          </a:p>
        </p:txBody>
      </p:sp>
      <p:sp>
        <p:nvSpPr>
          <p:cNvPr id="1053" name="화살표 1"/>
          <p:cNvSpPr/>
          <p:nvPr/>
        </p:nvSpPr>
        <p:spPr>
          <a:xfrm rot="5400000">
            <a:off x="2522810" y="2879056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4" name="화살표라벨 1"/>
          <p:cNvSpPr txBox="1"/>
          <p:nvPr/>
        </p:nvSpPr>
        <p:spPr>
          <a:xfrm>
            <a:off x="1905786" y="3510945"/>
            <a:ext cx="1384048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6B7688"/>
                </a:solidFill>
                <a:latin typeface="맑은 고딕"/>
                <a:ea typeface="맑은 고딕"/>
                <a:cs typeface="Arial"/>
              </a:rPr>
              <a:t>중요 사례 이관</a:t>
            </a:r>
          </a:p>
        </p:txBody>
      </p:sp>
      <p:sp>
        <p:nvSpPr>
          <p:cNvPr id="1055" name="흐름 2"/>
          <p:cNvSpPr/>
          <p:nvPr/>
        </p:nvSpPr>
        <p:spPr>
          <a:xfrm>
            <a:off x="2789834" y="2487168"/>
            <a:ext cx="1978761" cy="963777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5B54B8"/>
              </a:gs>
              <a:gs pos="100000">
                <a:srgbClr val="423C90"/>
              </a:gs>
            </a:gsLst>
            <a:lin ang="5400000" scaled="0"/>
          </a:gradFill>
          <a:ln w="9525">
            <a:solidFill>
              <a:srgbClr val="423C90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TM Log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발생 건 원문 기록</a:t>
            </a:r>
          </a:p>
        </p:txBody>
      </p:sp>
      <p:sp>
        <p:nvSpPr>
          <p:cNvPr id="1056" name="화살표 2"/>
          <p:cNvSpPr/>
          <p:nvPr/>
        </p:nvSpPr>
        <p:spPr>
          <a:xfrm rot="5400000">
            <a:off x="4885620" y="2879056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7" name="화살표라벨 2"/>
          <p:cNvSpPr txBox="1"/>
          <p:nvPr/>
        </p:nvSpPr>
        <p:spPr>
          <a:xfrm>
            <a:off x="4268596" y="3510945"/>
            <a:ext cx="1384048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6B7688"/>
                </a:solidFill>
                <a:latin typeface="맑은 고딕"/>
                <a:ea typeface="맑은 고딕"/>
                <a:cs typeface="Arial"/>
              </a:rPr>
              <a:t>Transfer to Master</a:t>
            </a:r>
          </a:p>
        </p:txBody>
      </p:sp>
      <p:sp>
        <p:nvSpPr>
          <p:cNvPr id="1058" name="흐름 3"/>
          <p:cNvSpPr/>
          <p:nvPr/>
        </p:nvSpPr>
        <p:spPr>
          <a:xfrm>
            <a:off x="5152644" y="2487168"/>
            <a:ext cx="1978761" cy="963777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5400000" scaled="0"/>
          </a:gradFill>
          <a:ln w="9525">
            <a:solidFill>
              <a:srgbClr val="35499C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Master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유형별 통합</a:t>
            </a:r>
          </a:p>
        </p:txBody>
      </p:sp>
      <p:sp>
        <p:nvSpPr>
          <p:cNvPr id="1059" name="화살표 3"/>
          <p:cNvSpPr/>
          <p:nvPr/>
        </p:nvSpPr>
        <p:spPr>
          <a:xfrm rot="5400000">
            <a:off x="7248429" y="2879056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0" name="화살표라벨 3"/>
          <p:cNvSpPr txBox="1"/>
          <p:nvPr/>
        </p:nvSpPr>
        <p:spPr>
          <a:xfrm>
            <a:off x="6631405" y="3510945"/>
            <a:ext cx="1384048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6B7688"/>
                </a:solidFill>
                <a:latin typeface="맑은 고딕"/>
                <a:ea typeface="맑은 고딕"/>
                <a:cs typeface="Arial"/>
              </a:rPr>
              <a:t>승급</a:t>
            </a:r>
          </a:p>
        </p:txBody>
      </p:sp>
      <p:sp>
        <p:nvSpPr>
          <p:cNvPr id="1061" name="흐름 4"/>
          <p:cNvSpPr/>
          <p:nvPr/>
        </p:nvSpPr>
        <p:spPr>
          <a:xfrm>
            <a:off x="7515453" y="2487168"/>
            <a:ext cx="1978761" cy="963777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5400000" scaled="0"/>
          </a:gradFill>
          <a:ln w="9525">
            <a:solidFill>
              <a:srgbClr val="2C64A4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Trend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관리 대상 확정</a:t>
            </a:r>
          </a:p>
        </p:txBody>
      </p:sp>
      <p:sp>
        <p:nvSpPr>
          <p:cNvPr id="1062" name="화살표 4"/>
          <p:cNvSpPr/>
          <p:nvPr/>
        </p:nvSpPr>
        <p:spPr>
          <a:xfrm rot="5400000">
            <a:off x="9611239" y="2879056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3" name="화살표라벨 4"/>
          <p:cNvSpPr txBox="1"/>
          <p:nvPr/>
        </p:nvSpPr>
        <p:spPr>
          <a:xfrm>
            <a:off x="8994215" y="3510945"/>
            <a:ext cx="1384048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6B7688"/>
                </a:solidFill>
                <a:latin typeface="맑은 고딕"/>
                <a:ea typeface="맑은 고딕"/>
                <a:cs typeface="Arial"/>
              </a:rPr>
              <a:t>리스크 평가</a:t>
            </a:r>
          </a:p>
        </p:txBody>
      </p:sp>
      <p:sp>
        <p:nvSpPr>
          <p:cNvPr id="1064" name="흐름 5"/>
          <p:cNvSpPr/>
          <p:nvPr/>
        </p:nvSpPr>
        <p:spPr>
          <a:xfrm>
            <a:off x="9878263" y="2487168"/>
            <a:ext cx="1978761" cy="963777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5400000" scaled="0"/>
          </a:gradFill>
          <a:ln w="9525">
            <a:solidFill>
              <a:srgbClr val="1F8AA8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Risk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평가 · 조치 관리</a:t>
            </a:r>
          </a:p>
        </p:txBody>
      </p:sp>
      <p:graphicFrame>
        <p:nvGraphicFramePr>
          <p:cNvPr id="1065" name="단계별 성격"/>
          <p:cNvGraphicFramePr>
            <a:graphicFrameLocks noGrp="1"/>
          </p:cNvGraphicFramePr>
          <p:nvPr/>
        </p:nvGraphicFramePr>
        <p:xfrm>
          <a:off x="427025" y="4315968"/>
          <a:ext cx="11429998" cy="146304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767525"/>
                <a:gridCol w="3770721"/>
                <a:gridCol w="589175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단계로 넘기는 기준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L&amp;L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프로젝트 사례 (원본)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전 검토 결과 즉시 반영이 어렵거나 장기 · 중요 사안일 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TM Log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프로젝트에서 발생한 건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유형이 모이거나 지속 관리가 필요할 때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Master · Trend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통합 → 관리 대상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리스크로 평가가 필요할 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리스크로 평가 · 조치 관리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65" name="핵심메시지"/>
          <p:cNvSpPr/>
          <p:nvPr/>
        </p:nvSpPr>
        <p:spPr>
          <a:xfrm>
            <a:off x="427025" y="5870448"/>
            <a:ext cx="11430000" cy="475488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6" name="핵심메시지 액센트"/>
          <p:cNvSpPr/>
          <p:nvPr/>
        </p:nvSpPr>
        <p:spPr>
          <a:xfrm>
            <a:off x="527025" y="5980448"/>
            <a:ext cx="48000" cy="255488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7" name="핵심메시지 문구"/>
          <p:cNvSpPr txBox="1"/>
          <p:nvPr/>
        </p:nvSpPr>
        <p:spPr>
          <a:xfrm>
            <a:off x="667025" y="5870448"/>
            <a:ext cx="110300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한 문장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L&amp;L 은 독자 시스템, TM 은 진행 관리 시스템 — 중요한 것만 넘겨서 한 화면에서 함께 본다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공통 화면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UI</a:t>
            </a:r>
          </a:p>
        </p:txBody>
      </p:sp>
      <p:pic>
        <p:nvPicPr>
          <p:cNvPr id="4" name="이미지 lnl_browser.png" descr="lnl_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5" y="1333309"/>
            <a:ext cx="6720839" cy="4200525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68" name="캡션 lnl_browser"/>
          <p:cNvSpPr txBox="1"/>
          <p:nvPr/>
        </p:nvSpPr>
        <p:spPr>
          <a:xfrm>
            <a:off x="427025" y="5616984"/>
            <a:ext cx="6720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L&amp;L Case Browser — 좌측 내비 · 상단 3단 필터 · 본문</a:t>
            </a:r>
          </a:p>
        </p:txBody>
      </p:sp>
      <p:sp>
        <p:nvSpPr>
          <p:cNvPr id="1069" name="화면 3분할"/>
          <p:cNvSpPr txBox="1"/>
          <p:nvPr/>
        </p:nvSpPr>
        <p:spPr>
          <a:xfrm>
            <a:off x="7315200" y="1280160"/>
            <a:ext cx="4535424" cy="224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화면은 세 영역으로 고정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좌측 : 모듈 내비 + 분류 트리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4A63C4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L&amp;L / TM / Risk 전환, Stage · Discipline 트리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상단 : 3단 필터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4A63C4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어느 화면에서도 같은 방식으로 범위를 좁힌다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본문 : 목록 · 상세 · 대시보드</a:t>
            </a:r>
          </a:p>
        </p:txBody>
      </p:sp>
      <p:graphicFrame>
        <p:nvGraphicFramePr>
          <p:cNvPr id="1070" name="필터 기준"/>
          <p:cNvGraphicFramePr>
            <a:graphicFrameLocks noGrp="1"/>
          </p:cNvGraphicFramePr>
          <p:nvPr/>
        </p:nvGraphicFramePr>
        <p:xfrm>
          <a:off x="7315200" y="3794760"/>
          <a:ext cx="4535423" cy="196596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216821"/>
                <a:gridCol w="331860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54559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ALSM · CSSP · STA4 등 프로젝트 단위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54559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Engineering · Procurement · Construction · Commissioning · HSE · QM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54559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Discipline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17개 공종 (ARCHITECTURAL ~ STEEL STRUCTURE)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70" name="핵심메시지"/>
          <p:cNvSpPr/>
          <p:nvPr/>
        </p:nvSpPr>
        <p:spPr>
          <a:xfrm>
            <a:off x="427025" y="5897880"/>
            <a:ext cx="11430000" cy="457200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71" name="핵심메시지 액센트"/>
          <p:cNvSpPr/>
          <p:nvPr/>
        </p:nvSpPr>
        <p:spPr>
          <a:xfrm>
            <a:off x="527025" y="6007880"/>
            <a:ext cx="48000" cy="237200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72" name="핵심메시지 문구"/>
          <p:cNvSpPr txBox="1"/>
          <p:nvPr/>
        </p:nvSpPr>
        <p:spPr>
          <a:xfrm>
            <a:off x="667025" y="5897880"/>
            <a:ext cx="1103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익히는 부담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화면 구조가 세 모듈에서 동일해 한 모듈을 익히면 나머지도 같은 방식으로 쓸 수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① Comprehensive Analytics Dashboard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L&amp;L</a:t>
            </a:r>
          </a:p>
        </p:txBody>
      </p:sp>
      <p:pic>
        <p:nvPicPr>
          <p:cNvPr id="4" name="이미지 lnl_dashboard.png" descr="ln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1280160"/>
            <a:ext cx="6964070" cy="4352544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73" name="캡션 lnl_dashboard"/>
          <p:cNvSpPr txBox="1"/>
          <p:nvPr/>
        </p:nvSpPr>
        <p:spPr>
          <a:xfrm>
            <a:off x="427025" y="5662704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L&amp;L 종합 분석 대시보드 — 검토 현황 · 공종별 분포 · 진척률</a:t>
            </a:r>
          </a:p>
        </p:txBody>
      </p:sp>
      <p:sp>
        <p:nvSpPr>
          <p:cNvPr id="1074" name="설명"/>
          <p:cNvSpPr txBox="1"/>
          <p:nvPr/>
        </p:nvSpPr>
        <p:spPr>
          <a:xfrm>
            <a:off x="7818120" y="1280160"/>
            <a:ext cx="4032504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무엇을 보는 화면인가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프로젝트별 L&amp;L 검토 현황을 한 표로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IN SCOPE / REFLECTED / NON-REFLECTED / OPEN / CLOSED / N/A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OPEN 을 상태별로 분해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Under Review · Pending Client · Pending Data · TM Log 30/60/90 · Unreviewed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공종별 · 단계별 분포를 그래프로</a:t>
            </a:r>
          </a:p>
        </p:txBody>
      </p:sp>
      <p:graphicFrame>
        <p:nvGraphicFramePr>
          <p:cNvPr id="1075" name="하단 지표"/>
          <p:cNvGraphicFramePr>
            <a:graphicFrameLocks noGrp="1"/>
          </p:cNvGraphicFramePr>
          <p:nvPr/>
        </p:nvGraphicFramePr>
        <p:xfrm>
          <a:off x="7818120" y="4041648"/>
          <a:ext cx="4032503" cy="178308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475306"/>
                <a:gridCol w="255719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Review Progress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대비 검토 완료 비율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 Cases Breakdown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미결 사례의 상태별 분포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Top 5 Delayed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지연이 많은 공종 상위 5개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② Review for Project — 착수 전 사례 검토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L&amp;L</a:t>
            </a:r>
          </a:p>
        </p:txBody>
      </p:sp>
      <p:pic>
        <p:nvPicPr>
          <p:cNvPr id="4" name="이미지 lnl_lists.png" descr="lnl_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1280160"/>
            <a:ext cx="6964070" cy="4352544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75" name="캡션 lnl_lists"/>
          <p:cNvSpPr txBox="1"/>
          <p:nvPr/>
        </p:nvSpPr>
        <p:spPr>
          <a:xfrm>
            <a:off x="427025" y="5662704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Review for Project — 대상 프로젝트를 고르고 사례별 반영 여부를 기록</a:t>
            </a:r>
          </a:p>
        </p:txBody>
      </p:sp>
      <p:sp>
        <p:nvSpPr>
          <p:cNvPr id="1076" name="설명"/>
          <p:cNvSpPr txBox="1"/>
          <p:nvPr/>
        </p:nvSpPr>
        <p:spPr>
          <a:xfrm>
            <a:off x="7818120" y="1280160"/>
            <a:ext cx="4032504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언제 쓰는 화면인가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프로젝트 착수 전, 과거 사례를 훑는 단계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Review Target Project 를 고르면 해당 범위의 사례가 목록으로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사례마다 이번 프로젝트 반영 여부를 표시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즉시 판단이 어려운 건은 TM Log 로 이관</a:t>
            </a:r>
          </a:p>
        </p:txBody>
      </p:sp>
      <p:graphicFrame>
        <p:nvGraphicFramePr>
          <p:cNvPr id="1077" name="검토 상태"/>
          <p:cNvGraphicFramePr>
            <a:graphicFrameLocks noGrp="1"/>
          </p:cNvGraphicFramePr>
          <p:nvPr/>
        </p:nvGraphicFramePr>
        <p:xfrm>
          <a:off x="7818120" y="4041648"/>
          <a:ext cx="4032503" cy="178308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573660"/>
                <a:gridCol w="245884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완료 / 반영 안 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검토가 끝난 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검토 중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진행 중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 협의 필요 / 데이터 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요인으로 보류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없음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프로젝트 범위 밖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③ Case Browser — 공종 · 단계별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L&amp;L</a:t>
            </a:r>
          </a:p>
        </p:txBody>
      </p:sp>
      <p:pic>
        <p:nvPicPr>
          <p:cNvPr id="4" name="이미지 lnl_browser.png" descr="lnl_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5" y="1333309"/>
            <a:ext cx="6720839" cy="4200525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77" name="캡션 lnl_browser"/>
          <p:cNvSpPr txBox="1"/>
          <p:nvPr/>
        </p:nvSpPr>
        <p:spPr>
          <a:xfrm>
            <a:off x="427025" y="5616984"/>
            <a:ext cx="6720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좌측 트리에서 Stage · 공종을 고르면 해당 사례만 표시</a:t>
            </a:r>
          </a:p>
        </p:txBody>
      </p:sp>
      <p:sp>
        <p:nvSpPr>
          <p:cNvPr id="1078" name="분류 체계"/>
          <p:cNvSpPr txBox="1"/>
          <p:nvPr/>
        </p:nvSpPr>
        <p:spPr>
          <a:xfrm>
            <a:off x="7315200" y="1280160"/>
            <a:ext cx="4535424" cy="3063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두 축으로 분류한다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Stage : Engineering / Construction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Discipline : 17개 공종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ARCHITECTURAL · CIVIL · ELECTRICAL · EM · Environment · F&amp;G · FF · HSE · HVAC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INSTRUMENT · NewEnergy · PIPING · PROCESS · ROTATING / STATIC MECHANICAL · STEEL STRUCTURE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사례 번호는 공종 코드 기반으로 자동 채번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예) PI-001 (PIPING) · CV-001 (CIVIL)</a:t>
            </a:r>
          </a:p>
        </p:txBody>
      </p:sp>
      <p:sp>
        <p:nvSpPr>
          <p:cNvPr id="1079" name="핵심메시지"/>
          <p:cNvSpPr/>
          <p:nvPr/>
        </p:nvSpPr>
        <p:spPr>
          <a:xfrm>
            <a:off x="427025" y="5897880"/>
            <a:ext cx="11430000" cy="457200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80" name="핵심메시지 액센트"/>
          <p:cNvSpPr/>
          <p:nvPr/>
        </p:nvSpPr>
        <p:spPr>
          <a:xfrm>
            <a:off x="527025" y="6007880"/>
            <a:ext cx="48000" cy="237200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81" name="핵심메시지 문구"/>
          <p:cNvSpPr txBox="1"/>
          <p:nvPr/>
        </p:nvSpPr>
        <p:spPr>
          <a:xfrm>
            <a:off x="667025" y="5897880"/>
            <a:ext cx="1103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찾는 방식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검색이 아니라 분류로 찾는다 — 내 공종 · 내 단계만 좁혀 보면 검토할 사례가 곧바로 나온다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④ 사례 등록 항목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L&amp;L</a:t>
            </a:r>
          </a:p>
        </p:txBody>
      </p:sp>
      <p:pic>
        <p:nvPicPr>
          <p:cNvPr id="4" name="이미지 lnl_detail.png" descr="lnl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5" y="1433322"/>
            <a:ext cx="6400800" cy="4000500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82" name="캡션 lnl_detail"/>
          <p:cNvSpPr txBox="1"/>
          <p:nvPr/>
        </p:nvSpPr>
        <p:spPr>
          <a:xfrm>
            <a:off x="427025" y="561698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사례 상세 — 등록 항목과 검토(REVIEW) 영역</a:t>
            </a:r>
          </a:p>
        </p:txBody>
      </p:sp>
      <p:graphicFrame>
        <p:nvGraphicFramePr>
          <p:cNvPr id="1083" name="등록 항목"/>
          <p:cNvGraphicFramePr>
            <a:graphicFrameLocks noGrp="1"/>
          </p:cNvGraphicFramePr>
          <p:nvPr/>
        </p:nvGraphicFramePr>
        <p:xfrm>
          <a:off x="6995160" y="1280160"/>
          <a:ext cx="4855463" cy="3703317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882811"/>
                <a:gridCol w="1677342"/>
                <a:gridCol w="229531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48201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Stage / Activity / Item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공종 안에서의 세부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201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Title / Description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사례 제목과 발생 상황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201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Cause Category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유형 (예: 설계 검증 오류)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201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Corrective Action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실제로 취한 조치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201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Preventive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재발 방지 가이드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201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RWI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프로젝트 적용 대상 여부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2019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Attachment · Company · Special Note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· 업체 · 특기사항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83" name="검토 영역"/>
          <p:cNvSpPr txBox="1"/>
          <p:nvPr/>
        </p:nvSpPr>
        <p:spPr>
          <a:xfrm>
            <a:off x="6995160" y="5138928"/>
            <a:ext cx="4855464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REVIEW 영역에 검토자 · 일자 · 의견 · 최종 상태를 기록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7A5AA8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원본 사례는 그대로 두고, 이번 프로젝트 대응만 따로 남긴다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① Log Browser — 변경사항 기록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Management</a:t>
            </a:r>
          </a:p>
        </p:txBody>
      </p:sp>
      <p:pic>
        <p:nvPicPr>
          <p:cNvPr id="4" name="이미지 tm_log.png" descr="tm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5" y="1433322"/>
            <a:ext cx="6400800" cy="4000500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84" name="캡션 tm_log"/>
          <p:cNvSpPr txBox="1"/>
          <p:nvPr/>
        </p:nvSpPr>
        <p:spPr>
          <a:xfrm>
            <a:off x="427025" y="561698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TM Log Browser — 좌측 Log 트리, 우측 A ~ E 입력 섹션</a:t>
            </a:r>
          </a:p>
        </p:txBody>
      </p:sp>
      <p:graphicFrame>
        <p:nvGraphicFramePr>
          <p:cNvPr id="1085" name="입력 섹션"/>
          <p:cNvGraphicFramePr>
            <a:graphicFrameLocks noGrp="1"/>
          </p:cNvGraphicFramePr>
          <p:nvPr/>
        </p:nvGraphicFramePr>
        <p:xfrm>
          <a:off x="6995160" y="1280160"/>
          <a:ext cx="4855463" cy="3931919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374187"/>
                <a:gridCol w="348127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섹션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내용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72054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A. Metadata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Description, MR No., Title, Item Category, Corresponding Phase, Item Owner, Issue 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72054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B. Identification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Causer, Reason for Change, Impact(+/−), Probability, Affected Discipline, Reference Doc.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72054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C.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Cost Impact Range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72054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D. Decision &amp; Action Plan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Action Status (조치 현황), Actual Closed Date (종결일)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72054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E. Categorization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C.O / Claim, Value Engineering, Lessons Learned, Risk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85" name="조작"/>
          <p:cNvSpPr txBox="1"/>
          <p:nvPr/>
        </p:nvSpPr>
        <p:spPr>
          <a:xfrm>
            <a:off x="6995160" y="5376672"/>
            <a:ext cx="485546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+ New Log · Transfer to Master · Save 를 한 화면에서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② Log → Master → Trend 승급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Management</a:t>
            </a:r>
          </a:p>
        </p:txBody>
      </p:sp>
      <p:sp>
        <p:nvSpPr>
          <p:cNvPr id="1086" name="흐름 1"/>
          <p:cNvSpPr/>
          <p:nvPr/>
        </p:nvSpPr>
        <p:spPr>
          <a:xfrm>
            <a:off x="427025" y="1298448"/>
            <a:ext cx="3444240" cy="935431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5400000" scaled="0"/>
          </a:gradFill>
          <a:ln w="9525">
            <a:solidFill>
              <a:srgbClr val="35499C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Log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발생 건 원문 기록 · 최하위</a:t>
            </a:r>
          </a:p>
        </p:txBody>
      </p:sp>
      <p:sp>
        <p:nvSpPr>
          <p:cNvPr id="1087" name="화살표 1"/>
          <p:cNvSpPr/>
          <p:nvPr/>
        </p:nvSpPr>
        <p:spPr>
          <a:xfrm rot="5400000">
            <a:off x="4070585" y="1676163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88" name="화살표라벨 1"/>
          <p:cNvSpPr txBox="1"/>
          <p:nvPr/>
        </p:nvSpPr>
        <p:spPr>
          <a:xfrm>
            <a:off x="3371265" y="2293879"/>
            <a:ext cx="154864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6B7688"/>
                </a:solidFill>
                <a:latin typeface="맑은 고딕"/>
                <a:ea typeface="맑은 고딕"/>
                <a:cs typeface="Arial"/>
              </a:rPr>
              <a:t>Transfer to Master</a:t>
            </a:r>
          </a:p>
        </p:txBody>
      </p:sp>
      <p:sp>
        <p:nvSpPr>
          <p:cNvPr id="1089" name="흐름 2"/>
          <p:cNvSpPr/>
          <p:nvPr/>
        </p:nvSpPr>
        <p:spPr>
          <a:xfrm>
            <a:off x="4419905" y="1298448"/>
            <a:ext cx="3444240" cy="935431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5400000" scaled="0"/>
          </a:gradFill>
          <a:ln w="9525">
            <a:solidFill>
              <a:srgbClr val="2C64A4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Master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유형별 통합 관리 · 중간</a:t>
            </a:r>
          </a:p>
        </p:txBody>
      </p:sp>
      <p:sp>
        <p:nvSpPr>
          <p:cNvPr id="1090" name="화살표 2"/>
          <p:cNvSpPr/>
          <p:nvPr/>
        </p:nvSpPr>
        <p:spPr>
          <a:xfrm rot="5400000">
            <a:off x="8063465" y="1676163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91" name="화살표라벨 2"/>
          <p:cNvSpPr txBox="1"/>
          <p:nvPr/>
        </p:nvSpPr>
        <p:spPr>
          <a:xfrm>
            <a:off x="7364145" y="2293879"/>
            <a:ext cx="154864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6B7688"/>
                </a:solidFill>
                <a:latin typeface="맑은 고딕"/>
                <a:ea typeface="맑은 고딕"/>
                <a:cs typeface="Arial"/>
              </a:rPr>
              <a:t>승급</a:t>
            </a:r>
          </a:p>
        </p:txBody>
      </p:sp>
      <p:sp>
        <p:nvSpPr>
          <p:cNvPr id="1092" name="흐름 3"/>
          <p:cNvSpPr/>
          <p:nvPr/>
        </p:nvSpPr>
        <p:spPr>
          <a:xfrm>
            <a:off x="8412785" y="1298448"/>
            <a:ext cx="3444240" cy="935431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5400000" scaled="0"/>
          </a:gradFill>
          <a:ln w="9525">
            <a:solidFill>
              <a:srgbClr val="1F8AA8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Trend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관리 대상 확정 · 최상위</a:t>
            </a:r>
          </a:p>
        </p:txBody>
      </p:sp>
      <p:graphicFrame>
        <p:nvGraphicFramePr>
          <p:cNvPr id="1093" name="승급 기준"/>
          <p:cNvGraphicFramePr>
            <a:graphicFrameLocks noGrp="1"/>
          </p:cNvGraphicFramePr>
          <p:nvPr/>
        </p:nvGraphicFramePr>
        <p:xfrm>
          <a:off x="427025" y="3063240"/>
          <a:ext cx="11429998" cy="178308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220679"/>
                <a:gridCol w="3329126"/>
                <a:gridCol w="4882718"/>
                <a:gridCol w="1997475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단계로 넘기는 기준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건을 있는 그대로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유형이 모이거나 지속 관리가 필요할 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 Browser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Master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유형별로 묶어 통합 관리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차원에서 계속 추적할 사안일 때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Master Browser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대상으로 확정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리스크로 평가가 필요할 때 → Risk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Trend Browser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93" name="이력"/>
          <p:cNvSpPr txBox="1"/>
          <p:nvPr/>
        </p:nvSpPr>
        <p:spPr>
          <a:xfrm>
            <a:off x="427025" y="5029200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승급은 Log Browser 의 Transfer to Master 버튼에서 시작한다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4A63C4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Log No. 는 원본 L&amp;L No. 기준으로 자동 보정되어, 승급해도 원본과의 연결이 끊기지 않는다</a:t>
            </a:r>
          </a:p>
        </p:txBody>
      </p:sp>
      <p:sp>
        <p:nvSpPr>
          <p:cNvPr id="1094" name="핵심메시지"/>
          <p:cNvSpPr/>
          <p:nvPr/>
        </p:nvSpPr>
        <p:spPr>
          <a:xfrm>
            <a:off x="427025" y="5870448"/>
            <a:ext cx="11430000" cy="475488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95" name="핵심메시지 액센트"/>
          <p:cNvSpPr/>
          <p:nvPr/>
        </p:nvSpPr>
        <p:spPr>
          <a:xfrm>
            <a:off x="527025" y="5980448"/>
            <a:ext cx="48000" cy="255488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96" name="핵심메시지 문구"/>
          <p:cNvSpPr txBox="1"/>
          <p:nvPr/>
        </p:nvSpPr>
        <p:spPr>
          <a:xfrm>
            <a:off x="667025" y="5870448"/>
            <a:ext cx="110300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왜 3단인가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모든 발생 건을 관리 대상으로 올리면 관리가 불가능해진다 — 걸러내는 단계가 Master 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③ My Work — 담당자별 조치 현황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Management</a:t>
            </a:r>
          </a:p>
        </p:txBody>
      </p:sp>
      <p:pic>
        <p:nvPicPr>
          <p:cNvPr id="4" name="이미지 tm_mywork.png" descr="tm_my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1280160"/>
            <a:ext cx="6964070" cy="4352544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97" name="캡션 tm_mywork"/>
          <p:cNvSpPr txBox="1"/>
          <p:nvPr/>
        </p:nvSpPr>
        <p:spPr>
          <a:xfrm>
            <a:off x="427025" y="5662704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My Work — 내가 맡은 항목만 모아 열 구성을 바꿔가며 확인</a:t>
            </a:r>
          </a:p>
        </p:txBody>
      </p:sp>
      <p:sp>
        <p:nvSpPr>
          <p:cNvPr id="1098" name="설명"/>
          <p:cNvSpPr txBox="1"/>
          <p:nvPr/>
        </p:nvSpPr>
        <p:spPr>
          <a:xfrm>
            <a:off x="7818120" y="1280160"/>
            <a:ext cx="4032504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담당자 관점의 화면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내가 맡은 항목만 모아서 표로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필요한 열만 골라 보는 방식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4A63C4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Log No. · Corresponding Phase · Master/Trend No. · Owner · Issue Date · MR No. · Category · Effect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행 높이 · 필터 · 페이지 수 조정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Save to JSON 으로 작업 내용 저장</a:t>
            </a:r>
          </a:p>
        </p:txBody>
      </p:sp>
      <p:graphicFrame>
        <p:nvGraphicFramePr>
          <p:cNvPr id="1099" name="조치 상태"/>
          <p:cNvGraphicFramePr>
            <a:graphicFrameLocks noGrp="1"/>
          </p:cNvGraphicFramePr>
          <p:nvPr/>
        </p:nvGraphicFramePr>
        <p:xfrm>
          <a:off x="7818120" y="4041648"/>
          <a:ext cx="4032503" cy="178308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672013"/>
                <a:gridCol w="236049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조치가 진행되고 있는 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Follow-up 필요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확인이 남은 건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6347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TM 에서 관리할 게 아님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대상에서 제외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① Risk Command Center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pic>
        <p:nvPicPr>
          <p:cNvPr id="4" name="이미지 risk_dashboard.png" descr="ris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1280160"/>
            <a:ext cx="6964070" cy="4352544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099" name="캡션 risk_dashboard"/>
          <p:cNvSpPr txBox="1"/>
          <p:nvPr/>
        </p:nvSpPr>
        <p:spPr>
          <a:xfrm>
            <a:off x="427025" y="5662704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Risk Command Center — 4개 지표 · 5×5 히트맵 · 포트폴리오 상세</a:t>
            </a:r>
          </a:p>
        </p:txBody>
      </p:sp>
      <p:sp>
        <p:nvSpPr>
          <p:cNvPr id="1100" name="지표"/>
          <p:cNvSpPr txBox="1"/>
          <p:nvPr/>
        </p:nvSpPr>
        <p:spPr>
          <a:xfrm>
            <a:off x="7818120" y="1280160"/>
            <a:ext cx="4032504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상단 4개 지표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Critical Exposure — 치명 등급 노출도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Aggregate Exposure — 전체 노출 합계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Overdue Actions — 기한이 지난 조치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Mitigation Coverage — 고위험 대비 대응 수립 비율</a:t>
            </a:r>
          </a:p>
        </p:txBody>
      </p:sp>
      <p:graphicFrame>
        <p:nvGraphicFramePr>
          <p:cNvPr id="1101" name="패널 구성"/>
          <p:cNvGraphicFramePr>
            <a:graphicFrameLocks noGrp="1"/>
          </p:cNvGraphicFramePr>
          <p:nvPr/>
        </p:nvGraphicFramePr>
        <p:xfrm>
          <a:off x="7818120" y="3858768"/>
          <a:ext cx="4032503" cy="1965959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770367"/>
                <a:gridCol w="226213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327355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5×5 Heat 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Probability × Impact 분포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27355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Level Distribution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 ~ A 등급별 건수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27355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Status Lifecycle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S01 ~ S04 진행 단계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27355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Strategy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전략별 건수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27355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Top Critical Watchlist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 상위 리스크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② Risk Register — 4단계 등록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pic>
        <p:nvPicPr>
          <p:cNvPr id="4" name="이미지 risk_register.png" descr="risk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5" y="1433322"/>
            <a:ext cx="6400800" cy="4000500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101" name="캡션 risk_register"/>
          <p:cNvSpPr txBox="1"/>
          <p:nvPr/>
        </p:nvSpPr>
        <p:spPr>
          <a:xfrm>
            <a:off x="427025" y="561698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Risk Register — 좌측은 상태(S01~S04)별 트리, 우측은 4단계 입력</a:t>
            </a:r>
          </a:p>
        </p:txBody>
      </p:sp>
      <p:graphicFrame>
        <p:nvGraphicFramePr>
          <p:cNvPr id="1102" name="등록 4단계"/>
          <p:cNvGraphicFramePr>
            <a:graphicFrameLocks noGrp="1"/>
          </p:cNvGraphicFramePr>
          <p:nvPr/>
        </p:nvGraphicFramePr>
        <p:xfrm>
          <a:off x="6995160" y="1280160"/>
          <a:ext cx="4855463" cy="393192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374187"/>
                <a:gridCol w="348127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내용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9006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Identification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Risk No. / Type / Discipline, PRMS Category, Risk Category Lv1 · Lv2, 원인 · 위험 · 영향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9006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Assessment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Probability, Schedule / Cost / Quality / HSE Impact → Risk Level 자동 산출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9006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Mitigation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전략 선택, 완화 비용, 완화 계획 (담당 · 목표일 · 예산 · 상태)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9006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Monitor &amp; Control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Risk Status S01 ~ S04, Action Plan (담당 · 목표 · 실적 · 상태)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02" name="트리"/>
          <p:cNvSpPr txBox="1"/>
          <p:nvPr/>
        </p:nvSpPr>
        <p:spPr>
          <a:xfrm>
            <a:off x="6995160" y="5376672"/>
            <a:ext cx="485546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좌측 트리가 상태별로 묶여 미평가 건과 확정 리스크가 구분된다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③ 리스크 평가 기준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graphicFrame>
        <p:nvGraphicFramePr>
          <p:cNvPr id="4" name="영향도 등급"/>
          <p:cNvGraphicFramePr>
            <a:graphicFrameLocks noGrp="1"/>
          </p:cNvGraphicFramePr>
          <p:nvPr/>
        </p:nvGraphicFramePr>
        <p:xfrm>
          <a:off x="427025" y="1298448"/>
          <a:ext cx="5577838" cy="2331719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072661"/>
                <a:gridCol w="1930790"/>
                <a:gridCol w="2574387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(일정 영향)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Critical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6개월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Very High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~ 6개월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~ 3개월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~ 4주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 미만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리스크 등급"/>
          <p:cNvGraphicFramePr>
            <a:graphicFrameLocks noGrp="1"/>
          </p:cNvGraphicFramePr>
          <p:nvPr/>
        </p:nvGraphicFramePr>
        <p:xfrm>
          <a:off x="6272784" y="1298448"/>
          <a:ext cx="5577838" cy="2331719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072661"/>
                <a:gridCol w="1930790"/>
                <a:gridCol w="2574387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방식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Critical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대응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Significant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중점 관리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Important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 점검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0050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Very 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03" name="대응"/>
          <p:cNvSpPr txBox="1"/>
          <p:nvPr/>
        </p:nvSpPr>
        <p:spPr>
          <a:xfrm>
            <a:off x="427025" y="3931920"/>
            <a:ext cx="1143000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대응 전략 4종과 진행 상태 4단계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대응 전략 : Avoid (회피) · Transfer (전가) · Mitigate (완화) · Accept (수용)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2FB3D6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전략을 고르면 완화 계획을 담당 · 목표일 · 예산 · 상태 단위로 등록한다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진행 상태 : S01 Critical → S02 On-going → S03 Under Control → S04 Resolved</a:t>
            </a:r>
          </a:p>
        </p:txBody>
      </p:sp>
      <p:sp>
        <p:nvSpPr>
          <p:cNvPr id="1104" name="핵심메시지"/>
          <p:cNvSpPr/>
          <p:nvPr/>
        </p:nvSpPr>
        <p:spPr>
          <a:xfrm>
            <a:off x="427025" y="5687568"/>
            <a:ext cx="11430000" cy="566928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05" name="핵심메시지 액센트"/>
          <p:cNvSpPr/>
          <p:nvPr/>
        </p:nvSpPr>
        <p:spPr>
          <a:xfrm>
            <a:off x="527025" y="5797568"/>
            <a:ext cx="48000" cy="346928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06" name="핵심메시지 문구"/>
          <p:cNvSpPr txBox="1"/>
          <p:nvPr/>
        </p:nvSpPr>
        <p:spPr>
          <a:xfrm>
            <a:off x="667025" y="5687568"/>
            <a:ext cx="110300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자동 산출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Probability 와 Impact 를 넣으면 Risk Level 이 자동으로 계산되고, 필요하면 수동으로 조정(Override)할 수 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운영 · 데이터 관리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</a:t>
            </a:r>
          </a:p>
        </p:txBody>
      </p:sp>
      <p:pic>
        <p:nvPicPr>
          <p:cNvPr id="4" name="이미지 master_lists.png" descr="master_l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5" y="1433322"/>
            <a:ext cx="6400800" cy="4000500"/>
          </a:xfrm>
          <a:prstGeom prst="rect">
            <a:avLst/>
          </a:prstGeom>
          <a:ln w="9525">
            <a:solidFill>
              <a:srgbClr val="E4EAF2"/>
            </a:solidFill>
          </a:ln>
          <a:effectLst>
            <a:outerShdw blurRad="114300" dist="38100" dir="5400000" rotWithShape="0">
              <a:srgbClr val="1B2A41">
                <a:alpha val="16000"/>
              </a:srgbClr>
            </a:outerShdw>
          </a:effectLst>
        </p:spPr>
      </p:pic>
      <p:sp>
        <p:nvSpPr>
          <p:cNvPr id="1107" name="캡션 master_lists"/>
          <p:cNvSpPr txBox="1"/>
          <p:nvPr/>
        </p:nvSpPr>
        <p:spPr>
          <a:xfrm>
            <a:off x="427025" y="561698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▲ Master Lists — Stage별 Discipline 코드와 분류 체계 관리</a:t>
            </a:r>
          </a:p>
        </p:txBody>
      </p:sp>
      <p:sp>
        <p:nvSpPr>
          <p:cNvPr id="1108" name="코드 관리"/>
          <p:cNvSpPr txBox="1"/>
          <p:nvPr/>
        </p:nvSpPr>
        <p:spPr>
          <a:xfrm>
            <a:off x="6995160" y="1280160"/>
            <a:ext cx="4855464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2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분류 체계를 여기서 관리한다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Stage별 Discipline (Code) 목록</a:t>
            </a:r>
          </a:p>
          <a:p>
            <a:pPr marL="304800" indent="-152400" algn="l">
              <a:lnSpc>
                <a:spcPts val="1450"/>
              </a:lnSpc>
              <a:spcBef>
                <a:spcPts val="300"/>
              </a:spcBef>
              <a:buClr>
                <a:srgbClr val="014099"/>
              </a:buClr>
              <a:buSzPct val="90000"/>
              <a:buFont typeface="Arial"/>
              <a:buChar char="-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TM Log 화면의 공종 선택과 채번에 그대로 사용된다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Cause category · Activity · Item 을 공종별로 관리</a:t>
            </a:r>
          </a:p>
          <a:p>
            <a:pPr marL="152400" indent="-152400" algn="l">
              <a:lnSpc>
                <a:spcPts val="1550"/>
              </a:lnSpc>
              <a:spcBef>
                <a:spcPts val="600"/>
              </a:spcBef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Project · Company 목록 관리</a:t>
            </a:r>
          </a:p>
        </p:txBody>
      </p:sp>
      <p:graphicFrame>
        <p:nvGraphicFramePr>
          <p:cNvPr id="1109" name="데이터 입출력"/>
          <p:cNvGraphicFramePr>
            <a:graphicFrameLocks noGrp="1"/>
          </p:cNvGraphicFramePr>
          <p:nvPr/>
        </p:nvGraphicFramePr>
        <p:xfrm>
          <a:off x="6995160" y="3886200"/>
          <a:ext cx="4855463" cy="187452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849700"/>
                <a:gridCol w="300576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Import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 파일을 열어 시스템과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SAVE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연동된 JSON 에 변경사항 저장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Excel Import / Export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마스터 목록 일괄 반입 · 반출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09" name="핵심메시지"/>
          <p:cNvSpPr/>
          <p:nvPr/>
        </p:nvSpPr>
        <p:spPr>
          <a:xfrm>
            <a:off x="427025" y="5897880"/>
            <a:ext cx="11430000" cy="457200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10" name="핵심메시지 액센트"/>
          <p:cNvSpPr/>
          <p:nvPr/>
        </p:nvSpPr>
        <p:spPr>
          <a:xfrm>
            <a:off x="527025" y="6007880"/>
            <a:ext cx="48000" cy="237200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11" name="핵심메시지 문구"/>
          <p:cNvSpPr txBox="1"/>
          <p:nvPr/>
        </p:nvSpPr>
        <p:spPr>
          <a:xfrm>
            <a:off x="667025" y="5897880"/>
            <a:ext cx="1103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확장 지점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공종 · 분류 체계가 코드로 관리되므로, 사업 특성이 달라져도 화면 수정 없이 목록만 바꾸면 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향후 계획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1112" name="패널 1"/>
          <p:cNvSpPr/>
          <p:nvPr/>
        </p:nvSpPr>
        <p:spPr>
          <a:xfrm>
            <a:off x="427025" y="1298448"/>
            <a:ext cx="3712464" cy="260604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13" name="패널스트립 1"/>
          <p:cNvSpPr/>
          <p:nvPr/>
        </p:nvSpPr>
        <p:spPr>
          <a:xfrm>
            <a:off x="523549" y="1298448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14" name="패널배지 1"/>
          <p:cNvSpPr/>
          <p:nvPr/>
        </p:nvSpPr>
        <p:spPr>
          <a:xfrm>
            <a:off x="557025" y="1428448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01</a:t>
            </a:r>
          </a:p>
        </p:txBody>
      </p:sp>
      <p:sp>
        <p:nvSpPr>
          <p:cNvPr id="1115" name="패널제목 1"/>
          <p:cNvSpPr txBox="1"/>
          <p:nvPr/>
        </p:nvSpPr>
        <p:spPr>
          <a:xfrm>
            <a:off x="557025" y="1858448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기능 완성</a:t>
            </a:r>
          </a:p>
        </p:txBody>
      </p:sp>
      <p:sp>
        <p:nvSpPr>
          <p:cNvPr id="1116" name="패널부제 1"/>
          <p:cNvSpPr txBox="1"/>
          <p:nvPr/>
        </p:nvSpPr>
        <p:spPr>
          <a:xfrm>
            <a:off x="557025" y="2258448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7A5AA8"/>
                </a:solidFill>
                <a:latin typeface="맑은 고딕"/>
                <a:ea typeface="맑은 고딕"/>
                <a:cs typeface="Arial"/>
              </a:rPr>
              <a:t>개발 중</a:t>
            </a:r>
          </a:p>
        </p:txBody>
      </p:sp>
      <p:sp>
        <p:nvSpPr>
          <p:cNvPr id="1117" name="패널선 1"/>
          <p:cNvSpPr/>
          <p:nvPr/>
        </p:nvSpPr>
        <p:spPr>
          <a:xfrm>
            <a:off x="557025" y="2508448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18" name="패널본문 1"/>
          <p:cNvSpPr txBox="1"/>
          <p:nvPr/>
        </p:nvSpPr>
        <p:spPr>
          <a:xfrm>
            <a:off x="557025" y="2588448"/>
            <a:ext cx="3452464" cy="1206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Risk Matrix 화면 (준비중)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모듈 간 연계 시나리오 보완</a:t>
            </a:r>
          </a:p>
        </p:txBody>
      </p:sp>
      <p:sp>
        <p:nvSpPr>
          <p:cNvPr id="1119" name="패널 2"/>
          <p:cNvSpPr/>
          <p:nvPr/>
        </p:nvSpPr>
        <p:spPr>
          <a:xfrm>
            <a:off x="4285793" y="1298448"/>
            <a:ext cx="3712464" cy="260604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20" name="패널스트립 2"/>
          <p:cNvSpPr/>
          <p:nvPr/>
        </p:nvSpPr>
        <p:spPr>
          <a:xfrm>
            <a:off x="4382317" y="1298448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21" name="패널배지 2"/>
          <p:cNvSpPr/>
          <p:nvPr/>
        </p:nvSpPr>
        <p:spPr>
          <a:xfrm>
            <a:off x="4415793" y="1428448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02</a:t>
            </a:r>
          </a:p>
        </p:txBody>
      </p:sp>
      <p:sp>
        <p:nvSpPr>
          <p:cNvPr id="1122" name="패널제목 2"/>
          <p:cNvSpPr txBox="1"/>
          <p:nvPr/>
        </p:nvSpPr>
        <p:spPr>
          <a:xfrm>
            <a:off x="4415793" y="1858448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운영 기반</a:t>
            </a:r>
          </a:p>
        </p:txBody>
      </p:sp>
      <p:sp>
        <p:nvSpPr>
          <p:cNvPr id="1123" name="패널부제 2"/>
          <p:cNvSpPr txBox="1"/>
          <p:nvPr/>
        </p:nvSpPr>
        <p:spPr>
          <a:xfrm>
            <a:off x="4415793" y="2258448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4A63C4"/>
                </a:solidFill>
                <a:latin typeface="맑은 고딕"/>
                <a:ea typeface="맑은 고딕"/>
                <a:cs typeface="Arial"/>
              </a:rPr>
              <a:t>런칭 준비</a:t>
            </a:r>
          </a:p>
        </p:txBody>
      </p:sp>
      <p:sp>
        <p:nvSpPr>
          <p:cNvPr id="1124" name="패널선 2"/>
          <p:cNvSpPr/>
          <p:nvPr/>
        </p:nvSpPr>
        <p:spPr>
          <a:xfrm>
            <a:off x="4415793" y="2508448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25" name="패널본문 2"/>
          <p:cNvSpPr txBox="1"/>
          <p:nvPr/>
        </p:nvSpPr>
        <p:spPr>
          <a:xfrm>
            <a:off x="4415793" y="2588448"/>
            <a:ext cx="3452464" cy="1206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보안 · 로그인 · 권한 체계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결제 시스템 연동</a:t>
            </a:r>
          </a:p>
        </p:txBody>
      </p:sp>
      <p:sp>
        <p:nvSpPr>
          <p:cNvPr id="1126" name="패널 3"/>
          <p:cNvSpPr/>
          <p:nvPr/>
        </p:nvSpPr>
        <p:spPr>
          <a:xfrm>
            <a:off x="8144561" y="1298448"/>
            <a:ext cx="3712464" cy="260604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27" name="패널스트립 3"/>
          <p:cNvSpPr/>
          <p:nvPr/>
        </p:nvSpPr>
        <p:spPr>
          <a:xfrm>
            <a:off x="8241085" y="1298448"/>
            <a:ext cx="3519416" cy="42000"/>
          </a:xfrm>
          <a:prstGeom prst="rect">
            <a:avLst/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28" name="패널배지 3"/>
          <p:cNvSpPr/>
          <p:nvPr/>
        </p:nvSpPr>
        <p:spPr>
          <a:xfrm>
            <a:off x="8274561" y="1428448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03</a:t>
            </a:r>
          </a:p>
        </p:txBody>
      </p:sp>
      <p:sp>
        <p:nvSpPr>
          <p:cNvPr id="1129" name="패널제목 3"/>
          <p:cNvSpPr txBox="1"/>
          <p:nvPr/>
        </p:nvSpPr>
        <p:spPr>
          <a:xfrm>
            <a:off x="8274561" y="1858448"/>
            <a:ext cx="3452464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데이터 활용</a:t>
            </a:r>
          </a:p>
        </p:txBody>
      </p:sp>
      <p:sp>
        <p:nvSpPr>
          <p:cNvPr id="1130" name="패널부제 3"/>
          <p:cNvSpPr txBox="1"/>
          <p:nvPr/>
        </p:nvSpPr>
        <p:spPr>
          <a:xfrm>
            <a:off x="8274561" y="2258448"/>
            <a:ext cx="3452464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ko-KR" altLang="en-US" sz="950" b="1" spc="-20" dirty="0">
                <a:solidFill>
                  <a:srgbClr val="2FB3D6"/>
                </a:solidFill>
                <a:latin typeface="맑은 고딕"/>
                <a:ea typeface="맑은 고딕"/>
                <a:cs typeface="Arial"/>
              </a:rPr>
              <a:t>중장기</a:t>
            </a:r>
          </a:p>
        </p:txBody>
      </p:sp>
      <p:sp>
        <p:nvSpPr>
          <p:cNvPr id="1131" name="패널선 3"/>
          <p:cNvSpPr/>
          <p:nvPr/>
        </p:nvSpPr>
        <p:spPr>
          <a:xfrm>
            <a:off x="8274561" y="2508448"/>
            <a:ext cx="3452464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32" name="패널본문 3"/>
          <p:cNvSpPr txBox="1"/>
          <p:nvPr/>
        </p:nvSpPr>
        <p:spPr>
          <a:xfrm>
            <a:off x="8274561" y="2588448"/>
            <a:ext cx="3452464" cy="1206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축적 데이터의 AI 분석 적용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예측형 리스크 관리로 확장</a:t>
            </a:r>
          </a:p>
        </p:txBody>
      </p:sp>
      <p:graphicFrame>
        <p:nvGraphicFramePr>
          <p:cNvPr id="1133" name="일정"/>
          <p:cNvGraphicFramePr>
            <a:graphicFrameLocks noGrp="1"/>
          </p:cNvGraphicFramePr>
          <p:nvPr/>
        </p:nvGraphicFramePr>
        <p:xfrm>
          <a:off x="427025" y="4160520"/>
          <a:ext cx="11429999" cy="132588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2592371"/>
                <a:gridCol w="1767525"/>
                <a:gridCol w="707010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개발 Wrap-up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 ~ 12월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· 로그인 · 결제 시스템을 추가하여 런칭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보완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런칭 이후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Risk Matrix 등 준비 중인 기능을 순차 오픈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33" name="핵심메시지"/>
          <p:cNvSpPr/>
          <p:nvPr/>
        </p:nvSpPr>
        <p:spPr>
          <a:xfrm>
            <a:off x="427025" y="5669280"/>
            <a:ext cx="11430000" cy="566928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34" name="핵심메시지 액센트"/>
          <p:cNvSpPr/>
          <p:nvPr/>
        </p:nvSpPr>
        <p:spPr>
          <a:xfrm>
            <a:off x="527025" y="5779280"/>
            <a:ext cx="48000" cy="346928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135" name="핵심메시지 문구"/>
          <p:cNvSpPr txBox="1"/>
          <p:nvPr/>
        </p:nvSpPr>
        <p:spPr>
          <a:xfrm>
            <a:off x="667025" y="5669280"/>
            <a:ext cx="110300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목표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E-P-C 전 단계의 리스크와 기술 자산을 하나의 시스템에 축적하여, AI 활용이 가능한 데이터 기반을 마련한다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FF0000"/>
            </a:solidFill>
            <a:latin typeface="현대하모니 L" panose="02020603020101020101" pitchFamily="18" charset="-127"/>
            <a:ea typeface="현대하모니 L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29547</TotalTime>
  <Words>2743</Words>
  <Application>Microsoft Office PowerPoint</Application>
  <PresentationFormat>와이드스크린</PresentationFormat>
  <Paragraphs>1022</Paragraphs>
  <Slides>4</Slides>
  <Notes>2</Notes>
  <HiddenSlides>1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디자인 사용자 지정</vt:lpstr>
      <vt:lpstr>PowerPoint 프레젠테이션</vt:lpstr>
      <vt:lpstr>목  차 </vt:lpstr>
      <vt:lpstr>슬라이드제목</vt:lpstr>
      <vt:lpstr>PowerPoint 프레젠테이션</vt:lpstr>
    </vt:vector>
  </TitlesOfParts>
  <Company>HDEC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김혜윤(KIM HAE YUN)</dc:creator>
  <cp:lastModifiedBy>kihun song</cp:lastModifiedBy>
  <cp:revision>1463</cp:revision>
  <cp:lastPrinted>2022-05-11T23:15:41Z</cp:lastPrinted>
  <dcterms:created xsi:type="dcterms:W3CDTF">2011-02-08T05:54:54Z</dcterms:created>
  <dcterms:modified xsi:type="dcterms:W3CDTF">2026-09-02T01:01:49Z</dcterms:modified>
</cp:coreProperties>
</file>