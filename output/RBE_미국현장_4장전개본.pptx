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"/>
  </p:notesMasterIdLst>
  <p:handoutMasterIdLst>
    <p:handoutMasterId r:id="rId7"/>
  </p:handoutMasterIdLst>
  <p:sldIdLst>
    <p:sldId id="256" r:id="rId5"/>
    <p:sldId id="257" r:id="rId4"/>
    <p:sldId id="258" r:id="rId3"/>
    <p:sldId id="259" r:id="rId2"/>
  </p:sldIdLst>
  <p:sldSz cx="12192000" cy="6858000"/>
  <p:notesSz cx="6797675" cy="98726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66" userDrawn="1">
          <p15:clr>
            <a:srgbClr val="A4A3A4"/>
          </p15:clr>
        </p15:guide>
        <p15:guide id="2" pos="22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3300"/>
    <a:srgbClr val="0033CC"/>
    <a:srgbClr val="3333CC"/>
    <a:srgbClr val="C80000"/>
    <a:srgbClr val="FF9900"/>
    <a:srgbClr val="33CC33"/>
    <a:srgbClr val="0F398F"/>
    <a:srgbClr val="144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40" autoAdjust="0"/>
    <p:restoredTop sz="96804" autoAdjust="0"/>
  </p:normalViewPr>
  <p:slideViewPr>
    <p:cSldViewPr>
      <p:cViewPr varScale="1">
        <p:scale>
          <a:sx n="121" d="100"/>
          <a:sy n="121" d="100"/>
        </p:scale>
        <p:origin x="132" y="222"/>
      </p:cViewPr>
      <p:guideLst>
        <p:guide orient="horz" pos="3566"/>
        <p:guide pos="22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348" y="-96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3FE285-BCD1-454B-9ABB-5ACA170B4AC4}" type="datetimeFigureOut">
              <a:rPr lang="ko-KR" altLang="en-US"/>
              <a:pPr>
                <a:defRPr/>
              </a:pPr>
              <a:t>2026. 9. 2.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377443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377443"/>
            <a:ext cx="2946400" cy="493634"/>
          </a:xfrm>
          <a:prstGeom prst="rect">
            <a:avLst/>
          </a:prstGeom>
        </p:spPr>
        <p:txBody>
          <a:bodyPr vert="horz" wrap="square" lIns="91135" tIns="45568" rIns="91135" bIns="45568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4F7B0F9-2746-47D6-B1C4-A25D92A1EC8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8463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BC6DEE9-2C2A-46E0-8D0A-0B2A7434BF60}" type="datetimeFigureOut">
              <a:rPr lang="ko-KR" altLang="en-US"/>
              <a:pPr>
                <a:defRPr/>
              </a:pPr>
              <a:t>2026. 9. 2.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" y="739775"/>
            <a:ext cx="658177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5" tIns="45568" rIns="91135" bIns="45568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2" y="4688721"/>
            <a:ext cx="5438775" cy="4444286"/>
          </a:xfrm>
          <a:prstGeom prst="rect">
            <a:avLst/>
          </a:prstGeom>
        </p:spPr>
        <p:txBody>
          <a:bodyPr vert="horz" lIns="91135" tIns="45568" rIns="91135" bIns="45568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7443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7443"/>
            <a:ext cx="2946400" cy="493634"/>
          </a:xfrm>
          <a:prstGeom prst="rect">
            <a:avLst/>
          </a:prstGeom>
        </p:spPr>
        <p:txBody>
          <a:bodyPr vert="horz" wrap="square" lIns="91135" tIns="45568" rIns="91135" bIns="45568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6FC4998-0E65-4FC5-9425-339769C5A7D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5673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C0C8A82A-28A5-42A4-B829-083C91997333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85750" indent="-285750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41338" indent="-254000">
              <a:lnSpc>
                <a:spcPts val="2160"/>
              </a:lnSpc>
              <a:buFont typeface="Wingdings" panose="05000000000000000000" pitchFamily="2" charset="2"/>
              <a:buChar char="l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808038" indent="-268288">
              <a:lnSpc>
                <a:spcPts val="2100"/>
              </a:lnSpc>
              <a:buFont typeface="Wingdings" panose="05000000000000000000" pitchFamily="2" charset="2"/>
              <a:buChar char="Ø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896938" indent="-134938">
              <a:buFont typeface="현대하모니 L" panose="02020603020101020101" pitchFamily="18" charset="-127"/>
              <a:buChar char="-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4pPr>
            <a:lvl5pPr marL="1260000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 넷째 수준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58110" y="75502"/>
            <a:ext cx="11698530" cy="486474"/>
          </a:xfrm>
          <a:prstGeom prst="rect">
            <a:avLst/>
          </a:prstGeom>
        </p:spPr>
        <p:txBody>
          <a:bodyPr/>
          <a:lstStyle>
            <a:lvl1pPr marL="0" indent="0" algn="l" rtl="0" eaLnBrk="1" fontAlgn="base" latinLnBrk="1" hangingPunct="1"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5082998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36F77048-831F-4214-AFB5-F686D2A46E25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82742" y="764704"/>
            <a:ext cx="7621770" cy="5871046"/>
          </a:xfrm>
          <a:prstGeom prst="rect">
            <a:avLst/>
          </a:prstGeom>
        </p:spPr>
        <p:txBody>
          <a:bodyPr/>
          <a:lstStyle>
            <a:lvl1pPr marL="180000" indent="-432000">
              <a:lnSpc>
                <a:spcPct val="200000"/>
              </a:lnSpc>
              <a:buFont typeface="+mj-lt"/>
              <a:buAutoNum type="romanUcPeriod"/>
              <a:defRPr sz="1800" b="1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432000" indent="216000">
              <a:lnSpc>
                <a:spcPts val="1850"/>
              </a:lnSpc>
              <a:buFont typeface="+mj-lt"/>
              <a:buAutoNum type="arabicPeriod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684000" indent="216000">
              <a:lnSpc>
                <a:spcPts val="1850"/>
              </a:lnSpc>
              <a:buFont typeface="+mj-lt"/>
              <a:buAutoNum type="arabicParenR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158110" y="12701"/>
            <a:ext cx="11698530" cy="549275"/>
          </a:xfrm>
          <a:prstGeom prst="rect">
            <a:avLst/>
          </a:prstGeom>
        </p:spPr>
        <p:txBody>
          <a:bodyPr anchor="ctr"/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5678308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39985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fld id="{809BAF6E-014A-4D9C-B942-1CBCC7133741}" type="datetimeFigureOut">
              <a:rPr lang="ko-KR" altLang="en-US" smtClean="0"/>
              <a:pPr/>
              <a:t>2026. 9. 2.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fld id="{891C5C8B-181F-4726-B8DF-5AD4BF9F132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24423" y="1052513"/>
            <a:ext cx="10943167" cy="0"/>
          </a:xfrm>
          <a:prstGeom prst="line">
            <a:avLst/>
          </a:prstGeom>
          <a:ln w="5715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521097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25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lvl2pPr>
              <a:lnSpc>
                <a:spcPct val="150000"/>
              </a:lnSpc>
              <a:defRPr sz="1463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2pPr>
            <a:lvl3pPr>
              <a:lnSpc>
                <a:spcPct val="150000"/>
              </a:lnSpc>
              <a:defRPr sz="1463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3pPr>
            <a:lvl4pPr>
              <a:lnSpc>
                <a:spcPct val="150000"/>
              </a:lnSpc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4pPr>
            <a:lvl5pPr>
              <a:lnSpc>
                <a:spcPct val="150000"/>
              </a:lnSpc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5pPr>
            <a:extLst/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0" name="제목 6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 rtlCol="0">
            <a:normAutofit/>
          </a:bodyPr>
          <a:lstStyle>
            <a:lvl1pPr>
              <a:defRPr sz="2275">
                <a:solidFill>
                  <a:srgbClr val="002060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9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1. 일반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10883449" y="76526"/>
            <a:ext cx="1150055" cy="2925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500" b="1" dirty="0">
                <a:solidFill>
                  <a:prstClr val="black"/>
                </a:solidFill>
              </a:rPr>
              <a:t>대외비</a:t>
            </a:r>
          </a:p>
        </p:txBody>
      </p:sp>
      <p:pic>
        <p:nvPicPr>
          <p:cNvPr id="9" name="그림 6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49281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734937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666750" y="1544836"/>
            <a:ext cx="10858500" cy="232171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5765" spc="-58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t>프레젠테이션 제목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66750" y="3750469"/>
            <a:ext cx="10858500" cy="1023417"/>
          </a:xfrm>
          <a:prstGeom prst="rect">
            <a:avLst/>
          </a:prstGeom>
        </p:spPr>
        <p:txBody>
          <a:bodyPr/>
          <a:lstStyle>
            <a:lvl1pPr marL="0" indent="0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1pPr>
            <a:lvl2pPr marL="0" indent="321457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2pPr>
            <a:lvl3pPr marL="0" indent="642915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3pPr>
            <a:lvl4pPr marL="0" indent="964372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4pPr>
            <a:lvl5pPr marL="0" indent="1285829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66750" y="5913856"/>
            <a:ext cx="10858500" cy="301824"/>
          </a:xfrm>
          <a:prstGeom prst="rect">
            <a:avLst/>
          </a:prstGeom>
        </p:spPr>
        <p:txBody>
          <a:bodyPr/>
          <a:lstStyle>
            <a:lvl1pPr marL="0" indent="0" algn="ctr" defTabSz="400353">
              <a:lnSpc>
                <a:spcPct val="100000"/>
              </a:lnSpc>
              <a:spcBef>
                <a:spcPts val="0"/>
              </a:spcBef>
              <a:buSzTx/>
              <a:buNone/>
              <a:defRPr sz="1364" spc="-13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 Next Medium"/>
              </a:defRPr>
            </a:lvl1pPr>
          </a:lstStyle>
          <a:p>
            <a:r>
              <a:t>저자 및 날짜</a:t>
            </a:r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5965974" y="6418819"/>
            <a:ext cx="261482" cy="223619"/>
          </a:xfrm>
          <a:prstGeom prst="rect">
            <a:avLst/>
          </a:prstGeom>
        </p:spPr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121819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C0C8A82A-28A5-42A4-B829-083C91997333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85736" indent="-285736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41310" indent="-253987">
              <a:lnSpc>
                <a:spcPts val="2160"/>
              </a:lnSpc>
              <a:buSzPct val="100000"/>
              <a:buFont typeface="Wingdings" panose="05000000000000000000" pitchFamily="2" charset="2"/>
              <a:buChar char="l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807997" indent="-268274">
              <a:lnSpc>
                <a:spcPts val="2100"/>
              </a:lnSpc>
              <a:buSzPct val="100000"/>
              <a:buFont typeface="Wingdings" panose="05000000000000000000" pitchFamily="2" charset="2"/>
              <a:buChar char="Ø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896892" indent="-134931">
              <a:buSzPct val="100000"/>
              <a:buFont typeface="현대하모니 L" panose="02020603020101020101" pitchFamily="18" charset="-127"/>
              <a:buChar char="-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4pPr>
            <a:lvl5pPr marL="1259936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 넷째 수준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58110" y="75502"/>
            <a:ext cx="11698530" cy="486474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869186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51987" indent="-251987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39972" indent="-251987">
              <a:lnSpc>
                <a:spcPts val="2160"/>
              </a:lnSpc>
              <a:buFont typeface="+mj-lt"/>
              <a:buAutoNum type="arabicParenR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683965" indent="-143993">
              <a:lnSpc>
                <a:spcPts val="2100"/>
              </a:lnSpc>
              <a:buFont typeface="맑은 고딕" panose="020B0503020000020004" pitchFamily="50" charset="-127"/>
              <a:buChar char="–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1079945">
              <a:defRPr sz="1400"/>
            </a:lvl4pPr>
            <a:lvl5pPr marL="1259936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52688408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580" r:id="rId1"/>
    <p:sldLayoutId id="2147484581" r:id="rId2"/>
    <p:sldLayoutId id="2147484578" r:id="rId3"/>
    <p:sldLayoutId id="2147484582" r:id="rId4"/>
    <p:sldLayoutId id="2147484583" r:id="rId5"/>
    <p:sldLayoutId id="2147484584" r:id="rId6"/>
    <p:sldLayoutId id="2147484585" r:id="rId7"/>
    <p:sldLayoutId id="2147484586" r:id="rId8"/>
  </p:sldLayoutIdLst>
  <p:transition>
    <p:fad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과거 RBE 운영의 한계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1001" name="메타"/>
          <p:cNvSpPr txBox="1"/>
          <p:nvPr/>
        </p:nvSpPr>
        <p:spPr>
          <a:xfrm>
            <a:off x="5856640" y="820000"/>
            <a:ext cx="6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altLang="en-US" sz="10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리스크 평가는 수행되었으나 실행으로 연결되지 않음</a:t>
            </a:r>
          </a:p>
        </p:txBody>
      </p:sp>
      <p:sp>
        <p:nvSpPr>
          <p:cNvPr id="1002" name="흐름 1"/>
          <p:cNvSpPr/>
          <p:nvPr/>
        </p:nvSpPr>
        <p:spPr>
          <a:xfrm>
            <a:off x="427025" y="1261872"/>
            <a:ext cx="2555748" cy="760415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5400000" scaled="0"/>
          </a:gradFill>
          <a:ln w="9525">
            <a:solidFill>
              <a:srgbClr val="35499C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리스크 식별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현장 위험요인 발굴</a:t>
            </a:r>
          </a:p>
        </p:txBody>
      </p:sp>
      <p:sp>
        <p:nvSpPr>
          <p:cNvPr id="1003" name="화살표 1"/>
          <p:cNvSpPr/>
          <p:nvPr/>
        </p:nvSpPr>
        <p:spPr>
          <a:xfrm rot="5400000">
            <a:off x="3108941" y="1552079"/>
            <a:ext cx="150000" cy="180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04" name="흐름 2"/>
          <p:cNvSpPr/>
          <p:nvPr/>
        </p:nvSpPr>
        <p:spPr>
          <a:xfrm>
            <a:off x="3385109" y="1261872"/>
            <a:ext cx="2555748" cy="760415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5400000" scaled="0"/>
          </a:gradFill>
          <a:ln w="9525">
            <a:solidFill>
              <a:srgbClr val="35499C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리스크 평가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등급 · 우선순위 산정</a:t>
            </a:r>
          </a:p>
        </p:txBody>
      </p:sp>
      <p:sp>
        <p:nvSpPr>
          <p:cNvPr id="1005" name="화살표 2"/>
          <p:cNvSpPr/>
          <p:nvPr/>
        </p:nvSpPr>
        <p:spPr>
          <a:xfrm rot="5400000">
            <a:off x="6067025" y="1552079"/>
            <a:ext cx="150000" cy="18000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06" name="흐름 3"/>
          <p:cNvSpPr/>
          <p:nvPr/>
        </p:nvSpPr>
        <p:spPr>
          <a:xfrm>
            <a:off x="6343193" y="1261872"/>
            <a:ext cx="2555748" cy="760415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C0392B"/>
              </a:gs>
              <a:gs pos="100000">
                <a:srgbClr val="96261A"/>
              </a:gs>
            </a:gsLst>
            <a:lin ang="5400000" scaled="0"/>
          </a:gradFill>
          <a:ln w="9525">
            <a:solidFill>
              <a:srgbClr val="96261A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실행 연계 단절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담당 · 기한 · 자원배분 불명확</a:t>
            </a:r>
          </a:p>
        </p:txBody>
      </p:sp>
      <p:sp>
        <p:nvSpPr>
          <p:cNvPr id="1007" name="화살표 3"/>
          <p:cNvSpPr/>
          <p:nvPr/>
        </p:nvSpPr>
        <p:spPr>
          <a:xfrm rot="5400000">
            <a:off x="9025109" y="1552079"/>
            <a:ext cx="150000" cy="180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08" name="흐름 4"/>
          <p:cNvSpPr/>
          <p:nvPr/>
        </p:nvSpPr>
        <p:spPr>
          <a:xfrm>
            <a:off x="9301277" y="1261872"/>
            <a:ext cx="2555748" cy="760415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C0392B"/>
              </a:gs>
              <a:gs pos="100000">
                <a:srgbClr val="96261A"/>
              </a:gs>
            </a:gsLst>
            <a:lin ang="5400000" scaled="0"/>
          </a:gradFill>
          <a:ln w="9525">
            <a:solidFill>
              <a:srgbClr val="96261A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평가 후 방치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추적 · 종결 · 효과검증 미흡</a:t>
            </a:r>
          </a:p>
        </p:txBody>
      </p:sp>
      <p:sp>
        <p:nvSpPr>
          <p:cNvPr id="1009" name="이전 적용 방식"/>
          <p:cNvSpPr txBox="1"/>
          <p:nvPr/>
        </p:nvSpPr>
        <p:spPr>
          <a:xfrm>
            <a:off x="427025" y="2523744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ts val="1550"/>
              </a:lnSpc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이전 적용 방식과 현장에서 나타난 결과</a:t>
            </a:r>
          </a:p>
        </p:txBody>
      </p:sp>
      <p:graphicFrame>
        <p:nvGraphicFramePr>
          <p:cNvPr id="1010" name="원인결과표"/>
          <p:cNvGraphicFramePr>
            <a:graphicFrameLocks noGrp="1"/>
          </p:cNvGraphicFramePr>
          <p:nvPr/>
        </p:nvGraphicFramePr>
        <p:xfrm>
          <a:off x="427025" y="2834640"/>
          <a:ext cx="11429998" cy="2432304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3250733"/>
                <a:gridCol w="3355596"/>
                <a:gridCol w="482366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 적용 방식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당초 의도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현장에서 나타난 결과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배포 후 현장 자율 운영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여건에 맞게 탄력적으로 운영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여부와 수준이 현장별로 크게 편차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품질인력 겸임 배정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증원 없이 운영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업무가 우선, 리스크 관리는 후순위로 밀림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이후 실행 책임자 미지정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부서별 자율 조치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· 기한 · 종결기준 부재로 조치 이행이 추적되지 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결과의 활용 기준 부재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자료 축적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 · 예산 · 검사 우선순위로 연결되지 않음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본사 원격 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문의 대응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리스크 변화가 시스템에 반영되지 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10" name="핵심메시지"/>
          <p:cNvSpPr/>
          <p:nvPr/>
        </p:nvSpPr>
        <p:spPr>
          <a:xfrm>
            <a:off x="427025" y="5413248"/>
            <a:ext cx="11430000" cy="658368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1" name="핵심메시지 액센트"/>
          <p:cNvSpPr/>
          <p:nvPr/>
        </p:nvSpPr>
        <p:spPr>
          <a:xfrm>
            <a:off x="527025" y="5523248"/>
            <a:ext cx="48000" cy="4383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2" name="핵심메시지 문구"/>
          <p:cNvSpPr txBox="1"/>
          <p:nvPr/>
        </p:nvSpPr>
        <p:spPr>
          <a:xfrm>
            <a:off x="667025" y="5413248"/>
            <a:ext cx="110300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C0392B"/>
                </a:solidFill>
                <a:latin typeface="맑은 고딕"/>
                <a:ea typeface="맑은 고딕"/>
                <a:cs typeface="Arial"/>
              </a:rPr>
              <a:t>핵심 시사점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실패 원인은 평가 기능이 아니다. 평가 이후의 실행을 책임질 운영 주체와 관리체계가 없었던 것이다. 리스크는 평가로 줄지 않고 실행으로 줄어든다.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미국현장에 RBE-i가 필요한 이유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Necessity</a:t>
            </a:r>
          </a:p>
        </p:txBody>
      </p:sp>
      <p:sp>
        <p:nvSpPr>
          <p:cNvPr id="1013" name="메타"/>
          <p:cNvSpPr txBox="1"/>
          <p:nvPr/>
        </p:nvSpPr>
        <p:spPr>
          <a:xfrm>
            <a:off x="5856640" y="820000"/>
            <a:ext cx="6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altLang="en-US" sz="10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복합 리스크의 통합 판단과 자원의 차등 배분</a:t>
            </a:r>
          </a:p>
        </p:txBody>
      </p:sp>
      <p:sp>
        <p:nvSpPr>
          <p:cNvPr id="1014" name="전이 소제목"/>
          <p:cNvSpPr txBox="1"/>
          <p:nvPr/>
        </p:nvSpPr>
        <p:spPr>
          <a:xfrm>
            <a:off x="427025" y="1261872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ts val="1550"/>
              </a:lnSpc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미국현장은 영역별 리스크가 서로 전이된다 — 개별 관리로는 끊어지지 않는다</a:t>
            </a:r>
          </a:p>
        </p:txBody>
      </p:sp>
      <p:graphicFrame>
        <p:nvGraphicFramePr>
          <p:cNvPr id="1015" name="리스크전이표"/>
          <p:cNvGraphicFramePr>
            <a:graphicFrameLocks noGrp="1"/>
          </p:cNvGraphicFramePr>
          <p:nvPr/>
        </p:nvGraphicFramePr>
        <p:xfrm>
          <a:off x="427025" y="1572768"/>
          <a:ext cx="11429998" cy="2670048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2097247"/>
                <a:gridCol w="4509082"/>
                <a:gridCol w="482366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영역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리스크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영역으로의 전이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인허가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허가 취득 지연, 조건부 승인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착공 · 설계 확정 지연 → 공기 압박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변경, 자재 사양 변경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재발주 · 납기 지연 → 시공 순서 변경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구매 · 벤더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벤더 납기 지연, 제작 품질 미달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반입 지연 → 재작업 · 검사 부하 증가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시공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공법 변경, 간섭 · 재시공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후속 공정 지연 → 공기 만회 압박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· 안전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부적합, 고위험 작업 집중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재작업 · 작업 중지 → 공기 지연 · 원가 증가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공기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만회 공정 투입, 동시작업 증가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 · 품질 리스크가 다시 상승 (고리가 닫힘)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15" name="차등 소제목"/>
          <p:cNvSpPr txBox="1"/>
          <p:nvPr/>
        </p:nvSpPr>
        <p:spPr>
          <a:xfrm>
            <a:off x="427025" y="4352544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ts val="1550"/>
              </a:lnSpc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통합 판단으로 한정된 자원을 가장 위험한 곳에 집중한다</a:t>
            </a:r>
          </a:p>
        </p:txBody>
      </p:sp>
      <p:graphicFrame>
        <p:nvGraphicFramePr>
          <p:cNvPr id="1016" name="자원차등표"/>
          <p:cNvGraphicFramePr>
            <a:graphicFrameLocks noGrp="1"/>
          </p:cNvGraphicFramePr>
          <p:nvPr/>
        </p:nvGraphicFramePr>
        <p:xfrm>
          <a:off x="427025" y="4663440"/>
          <a:ext cx="11429998" cy="1170432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2097247"/>
                <a:gridCol w="4509082"/>
                <a:gridCol w="482366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 수준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강도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배분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고위험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집중 관리 · 상시 추적 · 조치 종결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 · 예산 · 검사 · 구매대응 우선 투입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중위험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정기 점검 · 표본 확인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수준 유지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저위험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확인 · 주기 점검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 투입, 여유분을 고위험으로 재배분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16" name="핵심메시지"/>
          <p:cNvSpPr/>
          <p:nvPr/>
        </p:nvSpPr>
        <p:spPr>
          <a:xfrm>
            <a:off x="427025" y="5943600"/>
            <a:ext cx="11430000" cy="493776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7" name="핵심메시지 액센트"/>
          <p:cNvSpPr/>
          <p:nvPr/>
        </p:nvSpPr>
        <p:spPr>
          <a:xfrm>
            <a:off x="527025" y="6053600"/>
            <a:ext cx="48000" cy="273776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8" name="핵심메시지 문구"/>
          <p:cNvSpPr txBox="1"/>
          <p:nvPr/>
        </p:nvSpPr>
        <p:spPr>
          <a:xfrm>
            <a:off x="667025" y="5943600"/>
            <a:ext cx="110300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핵심 메시지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RBE-i 의 핵심은 평가서 작성이 아니라, 제한된 프로젝트 자원을 가장 위험한 곳에 집중하는 것이다.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RBE-i를 어떻게 제대로 적용할 것인가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1019" name="메타"/>
          <p:cNvSpPr txBox="1"/>
          <p:nvPr/>
        </p:nvSpPr>
        <p:spPr>
          <a:xfrm>
            <a:off x="5856640" y="820000"/>
            <a:ext cx="6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altLang="en-US" sz="10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평가에서 종결까지 하나의 폐쇄형 사이클로 운영</a:t>
            </a:r>
          </a:p>
        </p:txBody>
      </p:sp>
      <p:sp>
        <p:nvSpPr>
          <p:cNvPr id="1020" name="루프 1"/>
          <p:cNvSpPr/>
          <p:nvPr/>
        </p:nvSpPr>
        <p:spPr>
          <a:xfrm>
            <a:off x="427025" y="1261872"/>
            <a:ext cx="2569464" cy="833932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5400000" scaled="0"/>
          </a:gradFill>
          <a:ln w="9525">
            <a:solidFill>
              <a:srgbClr val="35499C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450"/>
              </a:lnSpc>
              <a:buNone/>
            </a:pPr>
            <a:r>
              <a:rPr lang="ko-KR" altLang="en-US" sz="11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리스크 평가</a:t>
            </a:r>
          </a:p>
          <a:p>
            <a:pPr marL="0" indent="0" algn="ctr">
              <a:lnSpc>
                <a:spcPts val="1150"/>
              </a:lnSpc>
              <a:spcBef>
                <a:spcPts val="200"/>
              </a:spcBef>
              <a:buNone/>
            </a:pPr>
            <a:r>
              <a:rPr lang="ko-KR" altLang="en-US" sz="88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영역별 리스크와 상호 영향 분석</a:t>
            </a:r>
          </a:p>
        </p:txBody>
      </p:sp>
      <p:sp>
        <p:nvSpPr>
          <p:cNvPr id="1021" name="루프화살 1"/>
          <p:cNvSpPr/>
          <p:nvPr/>
        </p:nvSpPr>
        <p:spPr>
          <a:xfrm rot="5400000">
            <a:off x="3113513" y="1588838"/>
            <a:ext cx="150000" cy="180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2" name="루프 2"/>
          <p:cNvSpPr/>
          <p:nvPr/>
        </p:nvSpPr>
        <p:spPr>
          <a:xfrm>
            <a:off x="3380537" y="1261872"/>
            <a:ext cx="2569464" cy="833932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3F87D0"/>
              </a:gs>
              <a:gs pos="100000">
                <a:srgbClr val="2C64A4"/>
              </a:gs>
            </a:gsLst>
            <a:lin ang="5400000" scaled="0"/>
          </a:gradFill>
          <a:ln w="9525">
            <a:solidFill>
              <a:srgbClr val="2C64A4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450"/>
              </a:lnSpc>
              <a:buNone/>
            </a:pPr>
            <a:r>
              <a:rPr lang="ko-KR" altLang="en-US" sz="11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자원 · 우선순위 결정</a:t>
            </a:r>
          </a:p>
          <a:p>
            <a:pPr marL="0" indent="0" algn="ctr">
              <a:lnSpc>
                <a:spcPts val="1150"/>
              </a:lnSpc>
              <a:spcBef>
                <a:spcPts val="200"/>
              </a:spcBef>
              <a:buNone/>
            </a:pPr>
            <a:r>
              <a:rPr lang="ko-KR" altLang="en-US" sz="88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고위험 항목에 인력 · 예산 · 관리강도 집중</a:t>
            </a:r>
          </a:p>
        </p:txBody>
      </p:sp>
      <p:sp>
        <p:nvSpPr>
          <p:cNvPr id="1023" name="루프화살 2"/>
          <p:cNvSpPr/>
          <p:nvPr/>
        </p:nvSpPr>
        <p:spPr>
          <a:xfrm rot="5400000">
            <a:off x="6067025" y="1588838"/>
            <a:ext cx="150000" cy="180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4" name="루프 3"/>
          <p:cNvSpPr/>
          <p:nvPr/>
        </p:nvSpPr>
        <p:spPr>
          <a:xfrm>
            <a:off x="6334049" y="1261872"/>
            <a:ext cx="2569464" cy="833932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5400000" scaled="0"/>
          </a:gradFill>
          <a:ln w="9525">
            <a:solidFill>
              <a:srgbClr val="1F8AA8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450"/>
              </a:lnSpc>
              <a:buNone/>
            </a:pPr>
            <a:r>
              <a:rPr lang="ko-KR" altLang="en-US" sz="11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실행계획 이행</a:t>
            </a:r>
          </a:p>
          <a:p>
            <a:pPr marL="0" indent="0" algn="ctr">
              <a:lnSpc>
                <a:spcPts val="1150"/>
              </a:lnSpc>
              <a:spcBef>
                <a:spcPts val="200"/>
              </a:spcBef>
              <a:buNone/>
            </a:pPr>
            <a:r>
              <a:rPr lang="ko-KR" altLang="en-US" sz="88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담당 · 기한 · 성과기준을 정해 조치 실행</a:t>
            </a:r>
          </a:p>
        </p:txBody>
      </p:sp>
      <p:sp>
        <p:nvSpPr>
          <p:cNvPr id="1025" name="루프화살 3"/>
          <p:cNvSpPr/>
          <p:nvPr/>
        </p:nvSpPr>
        <p:spPr>
          <a:xfrm rot="5400000">
            <a:off x="9020537" y="1588838"/>
            <a:ext cx="150000" cy="180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6" name="루프 4"/>
          <p:cNvSpPr/>
          <p:nvPr/>
        </p:nvSpPr>
        <p:spPr>
          <a:xfrm>
            <a:off x="9287561" y="1261872"/>
            <a:ext cx="2569464" cy="833932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1F7A6B"/>
              </a:gs>
              <a:gs pos="100000">
                <a:srgbClr val="155A4E"/>
              </a:gs>
            </a:gsLst>
            <a:lin ang="5400000" scaled="0"/>
          </a:gradFill>
          <a:ln w="9525">
            <a:solidFill>
              <a:srgbClr val="155A4E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450"/>
              </a:lnSpc>
              <a:buNone/>
            </a:pPr>
            <a:r>
              <a:rPr lang="ko-KR" altLang="en-US" sz="115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추적 · 종결 · 재평가</a:t>
            </a:r>
          </a:p>
          <a:p>
            <a:pPr marL="0" indent="0" algn="ctr">
              <a:lnSpc>
                <a:spcPts val="1150"/>
              </a:lnSpc>
              <a:spcBef>
                <a:spcPts val="200"/>
              </a:spcBef>
              <a:buNone/>
            </a:pPr>
            <a:r>
              <a:rPr lang="ko-KR" altLang="en-US" sz="88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효과 확인 후 종결하고 변화 리스크 재평가</a:t>
            </a:r>
          </a:p>
        </p:txBody>
      </p:sp>
      <p:sp>
        <p:nvSpPr>
          <p:cNvPr id="1027" name="회귀선"/>
          <p:cNvSpPr/>
          <p:nvPr/>
        </p:nvSpPr>
        <p:spPr>
          <a:xfrm>
            <a:off x="1711757" y="2318186"/>
            <a:ext cx="8860536" cy="9525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8" name="회귀연결 우"/>
          <p:cNvSpPr/>
          <p:nvPr/>
        </p:nvSpPr>
        <p:spPr>
          <a:xfrm>
            <a:off x="10572293" y="2095804"/>
            <a:ext cx="9525" cy="222382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9" name="회귀연결 좌"/>
          <p:cNvSpPr/>
          <p:nvPr/>
        </p:nvSpPr>
        <p:spPr>
          <a:xfrm>
            <a:off x="1711757" y="2225804"/>
            <a:ext cx="9525" cy="92382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0" name="회귀촉"/>
          <p:cNvSpPr/>
          <p:nvPr/>
        </p:nvSpPr>
        <p:spPr>
          <a:xfrm>
            <a:off x="1643757" y="2115804"/>
            <a:ext cx="145000" cy="140000"/>
          </a:xfrm>
          <a:prstGeom prst="triangle">
            <a:avLst/>
          </a:prstGeom>
          <a:solidFill>
            <a:srgbClr val="8A94A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1" name="회귀라벨"/>
          <p:cNvSpPr txBox="1"/>
          <p:nvPr/>
        </p:nvSpPr>
        <p:spPr>
          <a:xfrm>
            <a:off x="1711757" y="2364186"/>
            <a:ext cx="8860536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ko-KR" altLang="en-US" sz="900" b="1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프로젝트 전 기간 반복 운영 — 변화한 리스크를 다시 평가에 투입</a:t>
            </a:r>
          </a:p>
        </p:txBody>
      </p:sp>
      <p:sp>
        <p:nvSpPr>
          <p:cNvPr id="1032" name="실행 소제목"/>
          <p:cNvSpPr txBox="1"/>
          <p:nvPr/>
        </p:nvSpPr>
        <p:spPr>
          <a:xfrm>
            <a:off x="427025" y="274320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ts val="1550"/>
              </a:lnSpc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미국현장 적용 실행 항목</a:t>
            </a:r>
          </a:p>
        </p:txBody>
      </p:sp>
      <p:graphicFrame>
        <p:nvGraphicFramePr>
          <p:cNvPr id="1033" name="실행항목표"/>
          <p:cNvGraphicFramePr>
            <a:graphicFrameLocks noGrp="1"/>
          </p:cNvGraphicFramePr>
          <p:nvPr/>
        </p:nvGraphicFramePr>
        <p:xfrm>
          <a:off x="427025" y="3054096"/>
          <a:ext cx="11430000" cy="1517904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1371600"/>
                <a:gridCol w="2743200"/>
                <a:gridCol w="73152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항목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도출 항목의 시스템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프로젝트 시공데이터 분석으로 도출된 적용 가능 항목 160건을 미국현장 기준으로 평가기준 · 기능 · 데이터 구조에 반영 (반영을 위해서는 RBE-i 개선이 선행되어야 함)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제철소 특성 항목 추가 발굴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플랜트 건설 기준으로 설계된 평가 항목을 제철소 공종 · 공법 · 인허가 체계에 맞게 보완하고 신규 항목을 발굴하여 내재화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폐쇄형 운영 정착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→ 자원 배분 → 실행 → 추적 · 종결을 프로젝트 전 기간 반복 운영하고, 변화한 리스크를 다시 평가에 투입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33" name="단계 소제목"/>
          <p:cNvSpPr txBox="1"/>
          <p:nvPr/>
        </p:nvSpPr>
        <p:spPr>
          <a:xfrm>
            <a:off x="427025" y="4663440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ts val="1550"/>
              </a:lnSpc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프로젝트 단계별 리스크 전환 — 전 기간에 걸쳐 관리 대상이 바뀐다</a:t>
            </a:r>
          </a:p>
        </p:txBody>
      </p:sp>
      <p:sp>
        <p:nvSpPr>
          <p:cNvPr id="1034" name="흐름 1"/>
          <p:cNvSpPr/>
          <p:nvPr/>
        </p:nvSpPr>
        <p:spPr>
          <a:xfrm>
            <a:off x="427025" y="4974336"/>
            <a:ext cx="3529584" cy="842345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5400000" scaled="0"/>
          </a:gradFill>
          <a:ln w="9525">
            <a:solidFill>
              <a:srgbClr val="35499C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인허가 · 설계 · 구매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허가 조건 · 설계 변경 · 벤더 납기</a:t>
            </a:r>
          </a:p>
        </p:txBody>
      </p:sp>
      <p:sp>
        <p:nvSpPr>
          <p:cNvPr id="1035" name="화살표 1"/>
          <p:cNvSpPr/>
          <p:nvPr/>
        </p:nvSpPr>
        <p:spPr>
          <a:xfrm rot="5400000">
            <a:off x="4091921" y="5305508"/>
            <a:ext cx="150000" cy="180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6" name="흐름 2"/>
          <p:cNvSpPr/>
          <p:nvPr/>
        </p:nvSpPr>
        <p:spPr>
          <a:xfrm>
            <a:off x="4377233" y="4974336"/>
            <a:ext cx="3529584" cy="842345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3F87D0"/>
              </a:gs>
              <a:gs pos="100000">
                <a:srgbClr val="2C64A4"/>
              </a:gs>
            </a:gsLst>
            <a:lin ang="5400000" scaled="0"/>
          </a:gradFill>
          <a:ln w="9525">
            <a:solidFill>
              <a:srgbClr val="2C64A4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시공 · 품질 · 안전 · 생산성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공법 · 재작업 · 고위험 작업 · 공기</a:t>
            </a:r>
          </a:p>
        </p:txBody>
      </p:sp>
      <p:sp>
        <p:nvSpPr>
          <p:cNvPr id="1037" name="화살표 2"/>
          <p:cNvSpPr/>
          <p:nvPr/>
        </p:nvSpPr>
        <p:spPr>
          <a:xfrm rot="5400000">
            <a:off x="8042129" y="5305508"/>
            <a:ext cx="150000" cy="180000"/>
          </a:xfrm>
          <a:prstGeom prst="triangle">
            <a:avLst/>
          </a:prstGeom>
          <a:solidFill>
            <a:srgbClr val="A9B4C6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8" name="흐름 3"/>
          <p:cNvSpPr/>
          <p:nvPr/>
        </p:nvSpPr>
        <p:spPr>
          <a:xfrm>
            <a:off x="8327441" y="4974336"/>
            <a:ext cx="3529584" cy="842345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1F7A6B"/>
              </a:gs>
              <a:gs pos="100000">
                <a:srgbClr val="155A4E"/>
              </a:gs>
            </a:gsLst>
            <a:lin ang="5400000" scaled="0"/>
          </a:gradFill>
          <a:ln w="9525">
            <a:solidFill>
              <a:srgbClr val="155A4E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2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MC · 시운전 · Hand-over</a:t>
            </a:r>
          </a:p>
          <a:p>
            <a:pPr marL="0" indent="0" algn="ctr">
              <a:lnSpc>
                <a:spcPts val="1200"/>
              </a:lnSpc>
              <a:spcBef>
                <a:spcPts val="200"/>
              </a:spcBef>
              <a:buNone/>
            </a:pPr>
            <a:r>
              <a:rPr lang="ko-KR" altLang="en-US" sz="900" spc="-20" dirty="0">
                <a:solidFill>
                  <a:srgbClr val="E8EEF7"/>
                </a:solidFill>
                <a:latin typeface="맑은 고딕"/>
                <a:ea typeface="맑은 고딕"/>
                <a:cs typeface="Arial"/>
              </a:rPr>
              <a:t>미완결 조치 · Punch · 인계 조건</a:t>
            </a:r>
          </a:p>
        </p:txBody>
      </p:sp>
      <p:sp>
        <p:nvSpPr>
          <p:cNvPr id="1039" name="핵심메시지"/>
          <p:cNvSpPr/>
          <p:nvPr/>
        </p:nvSpPr>
        <p:spPr>
          <a:xfrm>
            <a:off x="427025" y="5943600"/>
            <a:ext cx="11430000" cy="493776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0" name="핵심메시지 액센트"/>
          <p:cNvSpPr/>
          <p:nvPr/>
        </p:nvSpPr>
        <p:spPr>
          <a:xfrm>
            <a:off x="527025" y="6053600"/>
            <a:ext cx="48000" cy="273776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1" name="핵심메시지 문구"/>
          <p:cNvSpPr txBox="1"/>
          <p:nvPr/>
        </p:nvSpPr>
        <p:spPr>
          <a:xfrm>
            <a:off x="667025" y="5943600"/>
            <a:ext cx="110300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핵심 메시지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평가에서 끝나지 않고 종결까지 닫히는 고리를 만드는 것, 그리고 그 고리를 프로젝트 전 기간 돌리는 것이 제대로 된 적용이다.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왜 전담인력이 필요하며, 어떤 역할을 해야 하는가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</a:t>
            </a:r>
          </a:p>
        </p:txBody>
      </p:sp>
      <p:sp>
        <p:nvSpPr>
          <p:cNvPr id="1042" name="메타"/>
          <p:cNvSpPr txBox="1"/>
          <p:nvPr/>
        </p:nvSpPr>
        <p:spPr>
          <a:xfrm>
            <a:off x="5856640" y="820000"/>
            <a:ext cx="6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altLang="en-US" sz="10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역할 · 자격요건 승인 요청   |   범위 : 착수 ~ Hand-over 완료</a:t>
            </a:r>
          </a:p>
        </p:txBody>
      </p:sp>
      <p:sp>
        <p:nvSpPr>
          <p:cNvPr id="1043" name="역할 소제목"/>
          <p:cNvSpPr txBox="1"/>
          <p:nvPr/>
        </p:nvSpPr>
        <p:spPr>
          <a:xfrm>
            <a:off x="427025" y="1261872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ts val="1550"/>
              </a:lnSpc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전담 운영 역할</a:t>
            </a:r>
          </a:p>
        </p:txBody>
      </p:sp>
      <p:sp>
        <p:nvSpPr>
          <p:cNvPr id="1044" name="패널 1"/>
          <p:cNvSpPr/>
          <p:nvPr/>
        </p:nvSpPr>
        <p:spPr>
          <a:xfrm>
            <a:off x="427025" y="1554480"/>
            <a:ext cx="2747772" cy="1664208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5" name="패널스트립 1"/>
          <p:cNvSpPr/>
          <p:nvPr/>
        </p:nvSpPr>
        <p:spPr>
          <a:xfrm>
            <a:off x="498467" y="1554480"/>
            <a:ext cx="2604888" cy="42000"/>
          </a:xfrm>
          <a:prstGeom prst="rect">
            <a:avLst/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6" name="패널배지 1"/>
          <p:cNvSpPr/>
          <p:nvPr/>
        </p:nvSpPr>
        <p:spPr>
          <a:xfrm>
            <a:off x="557025" y="1684480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01</a:t>
            </a:r>
          </a:p>
        </p:txBody>
      </p:sp>
      <p:sp>
        <p:nvSpPr>
          <p:cNvPr id="1047" name="패널제목 1"/>
          <p:cNvSpPr txBox="1"/>
          <p:nvPr/>
        </p:nvSpPr>
        <p:spPr>
          <a:xfrm>
            <a:off x="557025" y="2114480"/>
            <a:ext cx="2487772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리스크 통합 관리</a:t>
            </a:r>
          </a:p>
        </p:txBody>
      </p:sp>
      <p:sp>
        <p:nvSpPr>
          <p:cNvPr id="1048" name="패널선 1"/>
          <p:cNvSpPr/>
          <p:nvPr/>
        </p:nvSpPr>
        <p:spPr>
          <a:xfrm>
            <a:off x="557025" y="2514480"/>
            <a:ext cx="2487772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9" name="패널본문 1"/>
          <p:cNvSpPr txBox="1"/>
          <p:nvPr/>
        </p:nvSpPr>
        <p:spPr>
          <a:xfrm>
            <a:off x="557025" y="2594480"/>
            <a:ext cx="2487772" cy="5142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350"/>
              </a:lnSpc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부문별 리스크를 통합하고 단계별 우선순위 결정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영역 간 전이 경로를 추적해 사전 대응</a:t>
            </a:r>
          </a:p>
        </p:txBody>
      </p:sp>
      <p:sp>
        <p:nvSpPr>
          <p:cNvPr id="1050" name="패널 2"/>
          <p:cNvSpPr/>
          <p:nvPr/>
        </p:nvSpPr>
        <p:spPr>
          <a:xfrm>
            <a:off x="3321101" y="1554480"/>
            <a:ext cx="2747772" cy="1664208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51" name="패널스트립 2"/>
          <p:cNvSpPr/>
          <p:nvPr/>
        </p:nvSpPr>
        <p:spPr>
          <a:xfrm>
            <a:off x="3392543" y="1554480"/>
            <a:ext cx="2604888" cy="42000"/>
          </a:xfrm>
          <a:prstGeom prst="rect">
            <a:avLst/>
          </a:prstGeom>
          <a:gradFill flip="none" rotWithShape="1">
            <a:gsLst>
              <a:gs pos="0">
                <a:srgbClr val="3F87D0"/>
              </a:gs>
              <a:gs pos="100000">
                <a:srgbClr val="2C64A4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52" name="패널배지 2"/>
          <p:cNvSpPr/>
          <p:nvPr/>
        </p:nvSpPr>
        <p:spPr>
          <a:xfrm>
            <a:off x="3451101" y="1684480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3F87D0"/>
              </a:gs>
              <a:gs pos="100000">
                <a:srgbClr val="2C64A4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02</a:t>
            </a:r>
          </a:p>
        </p:txBody>
      </p:sp>
      <p:sp>
        <p:nvSpPr>
          <p:cNvPr id="1053" name="패널제목 2"/>
          <p:cNvSpPr txBox="1"/>
          <p:nvPr/>
        </p:nvSpPr>
        <p:spPr>
          <a:xfrm>
            <a:off x="3451101" y="2114480"/>
            <a:ext cx="2487772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RBE-i 맞춤 개선</a:t>
            </a:r>
          </a:p>
        </p:txBody>
      </p:sp>
      <p:sp>
        <p:nvSpPr>
          <p:cNvPr id="1054" name="패널선 2"/>
          <p:cNvSpPr/>
          <p:nvPr/>
        </p:nvSpPr>
        <p:spPr>
          <a:xfrm>
            <a:off x="3451101" y="2514480"/>
            <a:ext cx="2487772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55" name="패널본문 2"/>
          <p:cNvSpPr txBox="1"/>
          <p:nvPr/>
        </p:nvSpPr>
        <p:spPr>
          <a:xfrm>
            <a:off x="3451101" y="2594480"/>
            <a:ext cx="2487772" cy="5142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350"/>
              </a:lnSpc>
              <a:buClr>
                <a:srgbClr val="3F87D0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현장 요구를 평가기준 · 기능 · 데이터 구조에 반영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3F87D0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도출된 적용 항목을 제철소 기준으로 내재화</a:t>
            </a:r>
          </a:p>
        </p:txBody>
      </p:sp>
      <p:sp>
        <p:nvSpPr>
          <p:cNvPr id="1056" name="패널 3"/>
          <p:cNvSpPr/>
          <p:nvPr/>
        </p:nvSpPr>
        <p:spPr>
          <a:xfrm>
            <a:off x="6215177" y="1554480"/>
            <a:ext cx="2747772" cy="1664208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57" name="패널스트립 3"/>
          <p:cNvSpPr/>
          <p:nvPr/>
        </p:nvSpPr>
        <p:spPr>
          <a:xfrm>
            <a:off x="6286619" y="1554480"/>
            <a:ext cx="2604888" cy="42000"/>
          </a:xfrm>
          <a:prstGeom prst="rect">
            <a:avLst/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58" name="패널배지 3"/>
          <p:cNvSpPr/>
          <p:nvPr/>
        </p:nvSpPr>
        <p:spPr>
          <a:xfrm>
            <a:off x="6345177" y="1684480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03</a:t>
            </a:r>
          </a:p>
        </p:txBody>
      </p:sp>
      <p:sp>
        <p:nvSpPr>
          <p:cNvPr id="1059" name="패널제목 3"/>
          <p:cNvSpPr txBox="1"/>
          <p:nvPr/>
        </p:nvSpPr>
        <p:spPr>
          <a:xfrm>
            <a:off x="6345177" y="2114480"/>
            <a:ext cx="2487772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실행 · 자원 연계</a:t>
            </a:r>
          </a:p>
        </p:txBody>
      </p:sp>
      <p:sp>
        <p:nvSpPr>
          <p:cNvPr id="1060" name="패널선 3"/>
          <p:cNvSpPr/>
          <p:nvPr/>
        </p:nvSpPr>
        <p:spPr>
          <a:xfrm>
            <a:off x="6345177" y="2514480"/>
            <a:ext cx="2487772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61" name="패널본문 3"/>
          <p:cNvSpPr txBox="1"/>
          <p:nvPr/>
        </p:nvSpPr>
        <p:spPr>
          <a:xfrm>
            <a:off x="6345177" y="2594480"/>
            <a:ext cx="2487772" cy="5142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350"/>
              </a:lnSpc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고위험 항목의 담당 · 기한 · 필요자원을 의사결정에 연결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부서 간 조치 우선순위 조정</a:t>
            </a:r>
          </a:p>
        </p:txBody>
      </p:sp>
      <p:sp>
        <p:nvSpPr>
          <p:cNvPr id="1062" name="패널 4"/>
          <p:cNvSpPr/>
          <p:nvPr/>
        </p:nvSpPr>
        <p:spPr>
          <a:xfrm>
            <a:off x="9109253" y="1554480"/>
            <a:ext cx="2747772" cy="1664208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63" name="패널스트립 4"/>
          <p:cNvSpPr/>
          <p:nvPr/>
        </p:nvSpPr>
        <p:spPr>
          <a:xfrm>
            <a:off x="9180695" y="1554480"/>
            <a:ext cx="2604888" cy="42000"/>
          </a:xfrm>
          <a:prstGeom prst="rect">
            <a:avLst/>
          </a:prstGeom>
          <a:gradFill flip="none" rotWithShape="1">
            <a:gsLst>
              <a:gs pos="0">
                <a:srgbClr val="1F7A6B"/>
              </a:gs>
              <a:gs pos="100000">
                <a:srgbClr val="155A4E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64" name="패널배지 4"/>
          <p:cNvSpPr/>
          <p:nvPr/>
        </p:nvSpPr>
        <p:spPr>
          <a:xfrm>
            <a:off x="9239253" y="1684480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1F7A6B"/>
              </a:gs>
              <a:gs pos="100000">
                <a:srgbClr val="155A4E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04</a:t>
            </a:r>
          </a:p>
        </p:txBody>
      </p:sp>
      <p:sp>
        <p:nvSpPr>
          <p:cNvPr id="1065" name="패널제목 4"/>
          <p:cNvSpPr txBox="1"/>
          <p:nvPr/>
        </p:nvSpPr>
        <p:spPr>
          <a:xfrm>
            <a:off x="9239253" y="2114480"/>
            <a:ext cx="2487772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추적 · 종결 책임</a:t>
            </a:r>
          </a:p>
        </p:txBody>
      </p:sp>
      <p:sp>
        <p:nvSpPr>
          <p:cNvPr id="1066" name="패널선 4"/>
          <p:cNvSpPr/>
          <p:nvPr/>
        </p:nvSpPr>
        <p:spPr>
          <a:xfrm>
            <a:off x="9239253" y="2514480"/>
            <a:ext cx="2487772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67" name="패널본문 4"/>
          <p:cNvSpPr txBox="1"/>
          <p:nvPr/>
        </p:nvSpPr>
        <p:spPr>
          <a:xfrm>
            <a:off x="9239253" y="2594480"/>
            <a:ext cx="2487772" cy="5142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350"/>
              </a:lnSpc>
              <a:buClr>
                <a:srgbClr val="1F7A6B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조치 이행과 잔여 리스크를 종료 시점까지 추적</a:t>
            </a:r>
          </a:p>
          <a:p>
            <a:pPr marL="139700" indent="-139700" algn="l">
              <a:lnSpc>
                <a:spcPts val="1350"/>
              </a:lnSpc>
              <a:spcBef>
                <a:spcPts val="500"/>
              </a:spcBef>
              <a:buClr>
                <a:srgbClr val="1F7A6B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효과성 검증 후 종결 판정</a:t>
            </a:r>
          </a:p>
        </p:txBody>
      </p:sp>
      <p:sp>
        <p:nvSpPr>
          <p:cNvPr id="1068" name="대안 소제목"/>
          <p:cNvSpPr txBox="1"/>
          <p:nvPr/>
        </p:nvSpPr>
        <p:spPr>
          <a:xfrm>
            <a:off x="427025" y="3291840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ts val="1550"/>
              </a:lnSpc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검토한 대안과 판단 — 전담 배치가 아닌 방식으로는 채워지지 않는 범위가 있다</a:t>
            </a:r>
          </a:p>
        </p:txBody>
      </p:sp>
      <p:graphicFrame>
        <p:nvGraphicFramePr>
          <p:cNvPr id="1069" name="대안검토표"/>
          <p:cNvGraphicFramePr>
            <a:graphicFrameLocks noGrp="1"/>
          </p:cNvGraphicFramePr>
          <p:nvPr/>
        </p:nvGraphicFramePr>
        <p:xfrm>
          <a:off x="427025" y="3584448"/>
          <a:ext cx="11430000" cy="1371600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2194560"/>
                <a:gridCol w="2926080"/>
                <a:gridCol w="3566160"/>
                <a:gridCol w="27432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대안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가능한 범위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불가능한 범위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</a:p>
                  </a:txBody>
                  <a:tcPr marL="91440" marR="91440" marT="45720" marB="45720">
                    <a:solidFill>
                      <a:srgbClr val="2C3E5D"/>
                    </a:solidFill>
                    <a:lnL w="9525" cap="flat" cmpd="sng" algn="ctr">
                      <a:solidFill>
                        <a:srgbClr val="2C3E5D"/>
                      </a:solidFill>
                    </a:lnL>
                    <a:lnR w="9525" cap="flat" cmpd="sng" algn="ctr">
                      <a:solidFill>
                        <a:srgbClr val="2C3E5D"/>
                      </a:solidFill>
                    </a:lnR>
                    <a:lnT w="9525" cap="flat" cmpd="sng" algn="ctr">
                      <a:solidFill>
                        <a:srgbClr val="2C3E5D"/>
                      </a:solidFill>
                    </a:lnT>
                    <a:lnB w="9525" cap="flat" cmpd="sng" algn="ctr">
                      <a:solidFill>
                        <a:srgbClr val="2C3E5D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품질인력 겸임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입력, 기존 기능 사용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 재설계, 부서 간 실행 조정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과거 운영 방식의 반복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파견 (6개월)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초기 구축 · 교육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시공 중기 이후 리스크 변화 대응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본격 리스크 구간에 공백 발생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본사 원격 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기능 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맥락 수집, 즉시 의사결정 연계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연계 단절의 재발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69" name="자격 소제목"/>
          <p:cNvSpPr txBox="1"/>
          <p:nvPr/>
        </p:nvSpPr>
        <p:spPr>
          <a:xfrm>
            <a:off x="427025" y="5029200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lnSpc>
                <a:spcPts val="1550"/>
              </a:lnSpc>
              <a:buClr>
                <a:srgbClr val="014099"/>
              </a:buClr>
              <a:buSzPct val="90000"/>
              <a:buFont typeface="Arial"/>
              <a:buChar char="▪"/>
            </a:pPr>
            <a:r>
              <a:rPr lang="ko-KR" altLang="en-US" sz="11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필수 자격요건 — 네 가지를 동시에 충족해야 한다</a:t>
            </a:r>
          </a:p>
        </p:txBody>
      </p:sp>
      <p:graphicFrame>
        <p:nvGraphicFramePr>
          <p:cNvPr id="1070" name="자격요건표"/>
          <p:cNvGraphicFramePr>
            <a:graphicFrameLocks noGrp="1"/>
          </p:cNvGraphicFramePr>
          <p:nvPr/>
        </p:nvGraphicFramePr>
        <p:xfrm>
          <a:off x="427025" y="5321808"/>
          <a:ext cx="11430000" cy="603504"/>
        </p:xfrm>
        <a:graphic>
          <a:graphicData uri="http://schemas.openxmlformats.org/drawingml/2006/table">
            <a:tbl>
              <a:tblPr firstRow="0" bandRow="0" firstCol="0" bandCol="0"/>
              <a:tblGrid>
                <a:gridCol w="2857500"/>
                <a:gridCol w="2857500"/>
                <a:gridCol w="2857500"/>
                <a:gridCol w="28575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 방법론</a:t>
                      </a:r>
                    </a:p>
                  </a:txBody>
                  <a:tcPr marL="91440" marR="91440" marT="45720" marB="45720">
                    <a:solidFill>
                      <a:srgbClr val="1F7A6B"/>
                    </a:solidFill>
                    <a:lnL w="9525" cap="flat" cmpd="sng" algn="ctr">
                      <a:solidFill>
                        <a:srgbClr val="1F7A6B"/>
                      </a:solidFill>
                    </a:lnL>
                    <a:lnR w="9525" cap="flat" cmpd="sng" algn="ctr">
                      <a:solidFill>
                        <a:srgbClr val="1F7A6B"/>
                      </a:solidFill>
                    </a:lnR>
                    <a:lnT w="9525" cap="flat" cmpd="sng" algn="ctr">
                      <a:solidFill>
                        <a:srgbClr val="1F7A6B"/>
                      </a:solidFill>
                    </a:lnT>
                    <a:lnB w="9525" cap="flat" cmpd="sng" algn="ctr">
                      <a:solidFill>
                        <a:srgbClr val="1F7A6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직접 개선</a:t>
                      </a:r>
                    </a:p>
                  </a:txBody>
                  <a:tcPr marL="91440" marR="91440" marT="45720" marB="45720">
                    <a:solidFill>
                      <a:srgbClr val="1F7A6B"/>
                    </a:solidFill>
                    <a:lnL w="9525" cap="flat" cmpd="sng" algn="ctr">
                      <a:solidFill>
                        <a:srgbClr val="1F7A6B"/>
                      </a:solidFill>
                    </a:lnL>
                    <a:lnR w="9525" cap="flat" cmpd="sng" algn="ctr">
                      <a:solidFill>
                        <a:srgbClr val="1F7A6B"/>
                      </a:solidFill>
                    </a:lnR>
                    <a:lnT w="9525" cap="flat" cmpd="sng" algn="ctr">
                      <a:solidFill>
                        <a:srgbClr val="1F7A6B"/>
                      </a:solidFill>
                    </a:lnT>
                    <a:lnB w="9525" cap="flat" cmpd="sng" algn="ctr">
                      <a:solidFill>
                        <a:srgbClr val="1F7A6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적용 경험</a:t>
                      </a:r>
                    </a:p>
                  </a:txBody>
                  <a:tcPr marL="91440" marR="91440" marT="45720" marB="45720">
                    <a:solidFill>
                      <a:srgbClr val="1F7A6B"/>
                    </a:solidFill>
                    <a:lnL w="9525" cap="flat" cmpd="sng" algn="ctr">
                      <a:solidFill>
                        <a:srgbClr val="1F7A6B"/>
                      </a:solidFill>
                    </a:lnL>
                    <a:lnR w="9525" cap="flat" cmpd="sng" algn="ctr">
                      <a:solidFill>
                        <a:srgbClr val="1F7A6B"/>
                      </a:solidFill>
                    </a:lnR>
                    <a:lnT w="9525" cap="flat" cmpd="sng" algn="ctr">
                      <a:solidFill>
                        <a:srgbClr val="1F7A6B"/>
                      </a:solidFill>
                    </a:lnT>
                    <a:lnB w="9525" cap="flat" cmpd="sng" algn="ctr">
                      <a:solidFill>
                        <a:srgbClr val="1F7A6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 간 실행 조정</a:t>
                      </a:r>
                    </a:p>
                  </a:txBody>
                  <a:tcPr marL="91440" marR="91440" marT="45720" marB="45720">
                    <a:solidFill>
                      <a:srgbClr val="1F7A6B"/>
                    </a:solidFill>
                    <a:lnL w="9525" cap="flat" cmpd="sng" algn="ctr">
                      <a:solidFill>
                        <a:srgbClr val="1F7A6B"/>
                      </a:solidFill>
                    </a:lnL>
                    <a:lnR w="9525" cap="flat" cmpd="sng" algn="ctr">
                      <a:solidFill>
                        <a:srgbClr val="1F7A6B"/>
                      </a:solidFill>
                    </a:lnR>
                    <a:lnT w="9525" cap="flat" cmpd="sng" algn="ctr">
                      <a:solidFill>
                        <a:srgbClr val="1F7A6B"/>
                      </a:solidFill>
                    </a:lnT>
                    <a:lnB w="9525" cap="flat" cmpd="sng" algn="ctr">
                      <a:solidFill>
                        <a:srgbClr val="1F7A6B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RBI · AIM 기반 평가체계 설계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 · 기능 · 데이터 구조 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건설현장 RBE-i 적용 경험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4536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부서별 조치 연계 및 종결 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  <a:lnL w="0" cap="flat" cmpd="sng" algn="ctr">
                      <a:solidFill>
                        <a:srgbClr val="FFFFFF"/>
                      </a:solidFill>
                    </a:lnL>
                    <a:lnR w="0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3E9F0"/>
                      </a:solidFill>
                    </a:lnT>
                    <a:lnB w="9525" cap="flat" cmpd="sng" algn="ctr">
                      <a:solidFill>
                        <a:srgbClr val="E3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70" name="핵심메시지"/>
          <p:cNvSpPr/>
          <p:nvPr/>
        </p:nvSpPr>
        <p:spPr>
          <a:xfrm>
            <a:off x="427025" y="5998464"/>
            <a:ext cx="11430000" cy="438912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71" name="핵심메시지 액센트"/>
          <p:cNvSpPr/>
          <p:nvPr/>
        </p:nvSpPr>
        <p:spPr>
          <a:xfrm>
            <a:off x="527025" y="6108464"/>
            <a:ext cx="48000" cy="218912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72" name="핵심메시지 문구"/>
          <p:cNvSpPr txBox="1"/>
          <p:nvPr/>
        </p:nvSpPr>
        <p:spPr>
          <a:xfrm>
            <a:off x="667025" y="5998464"/>
            <a:ext cx="1103000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요청 사항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미국현장 RBE-i 전담 역할과 자격요건의 승인 — 적임자 지정은 해당 요건에 따라 판단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dirty="0" smtClean="0">
            <a:solidFill>
              <a:srgbClr val="FF0000"/>
            </a:solidFill>
            <a:latin typeface="현대하모니 L" panose="02020603020101020101" pitchFamily="18" charset="-127"/>
            <a:ea typeface="현대하모니 L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29547</TotalTime>
  <Words>2743</Words>
  <Application>Microsoft Office PowerPoint</Application>
  <PresentationFormat>와이드스크린</PresentationFormat>
  <Paragraphs>1022</Paragraphs>
  <Slides>4</Slides>
  <Notes>2</Notes>
  <HiddenSlides>1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디자인 사용자 지정</vt:lpstr>
      <vt:lpstr>PowerPoint 프레젠테이션</vt:lpstr>
      <vt:lpstr>목  차 </vt:lpstr>
      <vt:lpstr>슬라이드제목</vt:lpstr>
      <vt:lpstr>PowerPoint 프레젠테이션</vt:lpstr>
    </vt:vector>
  </TitlesOfParts>
  <Company>HDEC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김혜윤(KIM HAE YUN)</dc:creator>
  <cp:lastModifiedBy>kihun song</cp:lastModifiedBy>
  <cp:revision>1463</cp:revision>
  <cp:lastPrinted>2022-05-11T23:15:41Z</cp:lastPrinted>
  <dcterms:created xsi:type="dcterms:W3CDTF">2011-02-08T05:54:54Z</dcterms:created>
  <dcterms:modified xsi:type="dcterms:W3CDTF">2026-09-02T01:01:49Z</dcterms:modified>
</cp:coreProperties>
</file>