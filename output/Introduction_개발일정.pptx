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797675" cy="98726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0033CC"/>
    <a:srgbClr val="3333CC"/>
    <a:srgbClr val="C80000"/>
    <a:srgbClr val="FF9900"/>
    <a:srgbClr val="33CC33"/>
    <a:srgbClr val="0F398F"/>
    <a:srgbClr val="144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0" autoAdjust="0"/>
    <p:restoredTop sz="96804" autoAdjust="0"/>
  </p:normalViewPr>
  <p:slideViewPr>
    <p:cSldViewPr>
      <p:cViewPr varScale="1">
        <p:scale>
          <a:sx n="121" d="100"/>
          <a:sy n="121" d="100"/>
        </p:scale>
        <p:origin x="132" y="222"/>
      </p:cViewPr>
      <p:guideLst>
        <p:guide orient="horz" pos="3566"/>
        <p:guide pos="2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48" y="-96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3FE285-BCD1-454B-9ABB-5ACA170B4AC4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F7B0F9-2746-47D6-B1C4-A25D92A1E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463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C6DEE9-2C2A-46E0-8D0A-0B2A7434BF60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5" tIns="45568" rIns="91135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688721"/>
            <a:ext cx="5438775" cy="4444286"/>
          </a:xfrm>
          <a:prstGeom prst="rect">
            <a:avLst/>
          </a:prstGeom>
        </p:spPr>
        <p:txBody>
          <a:bodyPr vert="horz" lIns="91135" tIns="45568" rIns="91135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FC4998-0E65-4FC5-9425-339769C5A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6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50" indent="-28575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38" indent="-254000">
              <a:lnSpc>
                <a:spcPts val="2160"/>
              </a:lnSpc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8038" indent="-268288">
              <a:lnSpc>
                <a:spcPts val="2100"/>
              </a:lnSpc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938" indent="-134938"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60000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08299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36F77048-831F-4214-AFB5-F686D2A46E25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82742" y="764704"/>
            <a:ext cx="7621770" cy="5871046"/>
          </a:xfrm>
          <a:prstGeom prst="rect">
            <a:avLst/>
          </a:prstGeom>
        </p:spPr>
        <p:txBody>
          <a:bodyPr/>
          <a:lstStyle>
            <a:lvl1pPr marL="180000" indent="-432000">
              <a:lnSpc>
                <a:spcPct val="200000"/>
              </a:lnSpc>
              <a:buFont typeface="+mj-lt"/>
              <a:buAutoNum type="romanUcPeriod"/>
              <a:defRPr sz="1800" b="1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32000" indent="216000">
              <a:lnSpc>
                <a:spcPts val="1850"/>
              </a:lnSpc>
              <a:buFont typeface="+mj-lt"/>
              <a:buAutoNum type="arabicPeriod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4000" indent="216000">
              <a:lnSpc>
                <a:spcPts val="1850"/>
              </a:lnSpc>
              <a:buFont typeface="+mj-lt"/>
              <a:buAutoNum type="arabicParenR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58110" y="12701"/>
            <a:ext cx="11698530" cy="549275"/>
          </a:xfrm>
          <a:prstGeom prst="rect">
            <a:avLst/>
          </a:prstGeom>
        </p:spPr>
        <p:txBody>
          <a:bodyPr anchor="ctr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783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9985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09BAF6E-014A-4D9C-B942-1CBCC7133741}" type="datetimeFigureOut">
              <a:rPr lang="ko-KR" altLang="en-US" smtClean="0"/>
              <a:pPr/>
              <a:t>2026. 9. 2.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91C5C8B-181F-4726-B8DF-5AD4BF9F132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24423" y="1052513"/>
            <a:ext cx="10943167" cy="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109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25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lvl2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2pPr>
            <a:lvl3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3pPr>
            <a:lvl4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5pPr>
            <a:extLst/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" name="제목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 rtlCol="0">
            <a:normAutofit/>
          </a:bodyPr>
          <a:lstStyle>
            <a:lvl1pPr>
              <a:defRPr sz="2275">
                <a:solidFill>
                  <a:srgbClr val="002060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0883449" y="76526"/>
            <a:ext cx="1150055" cy="2925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500" b="1" dirty="0">
                <a:solidFill>
                  <a:prstClr val="black"/>
                </a:solidFill>
              </a:rPr>
              <a:t>대외비</a:t>
            </a:r>
          </a:p>
        </p:txBody>
      </p:sp>
      <p:pic>
        <p:nvPicPr>
          <p:cNvPr id="9" name="그림 6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49281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3493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66750" y="1544836"/>
            <a:ext cx="10858500" cy="232171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5765" spc="-58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50469"/>
            <a:ext cx="10858500" cy="1023417"/>
          </a:xfrm>
          <a:prstGeom prst="rect">
            <a:avLst/>
          </a:prstGeom>
        </p:spPr>
        <p:txBody>
          <a:bodyPr/>
          <a:lstStyle>
            <a:lvl1pPr marL="0" indent="0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1pPr>
            <a:lvl2pPr marL="0" indent="321457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2pPr>
            <a:lvl3pPr marL="0" indent="642915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3pPr>
            <a:lvl4pPr marL="0" indent="964372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4pPr>
            <a:lvl5pPr marL="0" indent="1285829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66750" y="5913856"/>
            <a:ext cx="10858500" cy="301824"/>
          </a:xfrm>
          <a:prstGeom prst="rect">
            <a:avLst/>
          </a:prstGeom>
        </p:spPr>
        <p:txBody>
          <a:bodyPr/>
          <a:lstStyle>
            <a:lvl1pPr marL="0" indent="0" algn="ctr" defTabSz="400353">
              <a:lnSpc>
                <a:spcPct val="100000"/>
              </a:lnSpc>
              <a:spcBef>
                <a:spcPts val="0"/>
              </a:spcBef>
              <a:buSzTx/>
              <a:buNone/>
              <a:defRPr sz="1364" spc="-13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 Next Medium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65974" y="6418819"/>
            <a:ext cx="261482" cy="223619"/>
          </a:xfrm>
          <a:prstGeom prst="rect">
            <a:avLst/>
          </a:prstGeom>
        </p:spPr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12181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36" indent="-285736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10" indent="-253987">
              <a:lnSpc>
                <a:spcPts val="2160"/>
              </a:lnSpc>
              <a:buSzPct val="100000"/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7997" indent="-268274">
              <a:lnSpc>
                <a:spcPts val="2100"/>
              </a:lnSpc>
              <a:buSzPct val="100000"/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892" indent="-134931">
              <a:buSzPct val="100000"/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86918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51987" indent="-251987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39972" indent="-251987">
              <a:lnSpc>
                <a:spcPts val="2160"/>
              </a:lnSpc>
              <a:buFont typeface="+mj-lt"/>
              <a:buAutoNum type="arabicParenR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3965" indent="-143993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1079945">
              <a:defRPr sz="1400"/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268840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78" r:id="rId3"/>
    <p:sldLayoutId id="2147484582" r:id="rId4"/>
    <p:sldLayoutId id="2147484583" r:id="rId5"/>
    <p:sldLayoutId id="2147484584" r:id="rId6"/>
    <p:sldLayoutId id="2147484585" r:id="rId7"/>
    <p:sldLayoutId id="2147484586" r:id="rId8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개발 일정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1001" name="메타"/>
          <p:cNvSpPr txBox="1"/>
          <p:nvPr/>
        </p:nvSpPr>
        <p:spPr>
          <a:xfrm>
            <a:off x="5856640" y="820000"/>
            <a:ext cx="6000000" cy="2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2026  시스템 개발 로드맵   |   5 Phases   |   3월 → 12월</a:t>
            </a:r>
          </a:p>
        </p:txBody>
      </p:sp>
      <p:sp>
        <p:nvSpPr>
          <p:cNvPr id="1002" name="월 3월"/>
          <p:cNvSpPr txBox="1"/>
          <p:nvPr/>
        </p:nvSpPr>
        <p:spPr>
          <a:xfrm>
            <a:off x="2956800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3월</a:t>
            </a:r>
          </a:p>
        </p:txBody>
      </p:sp>
      <p:sp>
        <p:nvSpPr>
          <p:cNvPr id="1003" name="월 4월"/>
          <p:cNvSpPr txBox="1"/>
          <p:nvPr/>
        </p:nvSpPr>
        <p:spPr>
          <a:xfrm>
            <a:off x="3846784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4월</a:t>
            </a:r>
          </a:p>
        </p:txBody>
      </p:sp>
      <p:sp>
        <p:nvSpPr>
          <p:cNvPr id="1004" name="월 5월"/>
          <p:cNvSpPr txBox="1"/>
          <p:nvPr/>
        </p:nvSpPr>
        <p:spPr>
          <a:xfrm>
            <a:off x="4736768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5월</a:t>
            </a:r>
          </a:p>
        </p:txBody>
      </p:sp>
      <p:sp>
        <p:nvSpPr>
          <p:cNvPr id="1005" name="월 6월"/>
          <p:cNvSpPr txBox="1"/>
          <p:nvPr/>
        </p:nvSpPr>
        <p:spPr>
          <a:xfrm>
            <a:off x="5626752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6월</a:t>
            </a:r>
          </a:p>
        </p:txBody>
      </p:sp>
      <p:sp>
        <p:nvSpPr>
          <p:cNvPr id="1006" name="월 7월"/>
          <p:cNvSpPr txBox="1"/>
          <p:nvPr/>
        </p:nvSpPr>
        <p:spPr>
          <a:xfrm>
            <a:off x="6516736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7월</a:t>
            </a:r>
          </a:p>
        </p:txBody>
      </p:sp>
      <p:sp>
        <p:nvSpPr>
          <p:cNvPr id="1007" name="월 8월"/>
          <p:cNvSpPr txBox="1"/>
          <p:nvPr/>
        </p:nvSpPr>
        <p:spPr>
          <a:xfrm>
            <a:off x="7406720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8월</a:t>
            </a:r>
          </a:p>
        </p:txBody>
      </p:sp>
      <p:sp>
        <p:nvSpPr>
          <p:cNvPr id="1008" name="월 9월"/>
          <p:cNvSpPr txBox="1"/>
          <p:nvPr/>
        </p:nvSpPr>
        <p:spPr>
          <a:xfrm>
            <a:off x="8296704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9월</a:t>
            </a:r>
          </a:p>
        </p:txBody>
      </p:sp>
      <p:sp>
        <p:nvSpPr>
          <p:cNvPr id="1009" name="월 10월"/>
          <p:cNvSpPr txBox="1"/>
          <p:nvPr/>
        </p:nvSpPr>
        <p:spPr>
          <a:xfrm>
            <a:off x="9186688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10월</a:t>
            </a:r>
          </a:p>
        </p:txBody>
      </p:sp>
      <p:sp>
        <p:nvSpPr>
          <p:cNvPr id="1010" name="월 11월"/>
          <p:cNvSpPr txBox="1"/>
          <p:nvPr/>
        </p:nvSpPr>
        <p:spPr>
          <a:xfrm>
            <a:off x="10076672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11월</a:t>
            </a:r>
          </a:p>
        </p:txBody>
      </p:sp>
      <p:sp>
        <p:nvSpPr>
          <p:cNvPr id="1011" name="월 12월"/>
          <p:cNvSpPr txBox="1"/>
          <p:nvPr/>
        </p:nvSpPr>
        <p:spPr>
          <a:xfrm>
            <a:off x="10966656" y="1240000"/>
            <a:ext cx="889984" cy="2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950" spc="-20" dirty="0">
                <a:solidFill>
                  <a:srgbClr val="8A94A6"/>
                </a:solidFill>
                <a:latin typeface="맑은 고딕"/>
                <a:ea typeface="맑은 고딕"/>
                <a:cs typeface="Arial"/>
              </a:rPr>
              <a:t>12월</a:t>
            </a:r>
          </a:p>
        </p:txBody>
      </p:sp>
      <p:sp>
        <p:nvSpPr>
          <p:cNvPr id="1012" name="축 구분선"/>
          <p:cNvSpPr/>
          <p:nvPr/>
        </p:nvSpPr>
        <p:spPr>
          <a:xfrm>
            <a:off x="426800" y="1510000"/>
            <a:ext cx="114298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3" name="격자 0"/>
          <p:cNvSpPr/>
          <p:nvPr/>
        </p:nvSpPr>
        <p:spPr>
          <a:xfrm>
            <a:off x="2956800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4" name="격자 1"/>
          <p:cNvSpPr/>
          <p:nvPr/>
        </p:nvSpPr>
        <p:spPr>
          <a:xfrm>
            <a:off x="3846784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5" name="격자 2"/>
          <p:cNvSpPr/>
          <p:nvPr/>
        </p:nvSpPr>
        <p:spPr>
          <a:xfrm>
            <a:off x="4736768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6" name="격자 3"/>
          <p:cNvSpPr/>
          <p:nvPr/>
        </p:nvSpPr>
        <p:spPr>
          <a:xfrm>
            <a:off x="5626752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7" name="격자 4"/>
          <p:cNvSpPr/>
          <p:nvPr/>
        </p:nvSpPr>
        <p:spPr>
          <a:xfrm>
            <a:off x="6516736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8" name="격자 5"/>
          <p:cNvSpPr/>
          <p:nvPr/>
        </p:nvSpPr>
        <p:spPr>
          <a:xfrm>
            <a:off x="7406720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19" name="격자 6"/>
          <p:cNvSpPr/>
          <p:nvPr/>
        </p:nvSpPr>
        <p:spPr>
          <a:xfrm>
            <a:off x="8296704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0" name="격자 7"/>
          <p:cNvSpPr/>
          <p:nvPr/>
        </p:nvSpPr>
        <p:spPr>
          <a:xfrm>
            <a:off x="9186688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1" name="격자 8"/>
          <p:cNvSpPr/>
          <p:nvPr/>
        </p:nvSpPr>
        <p:spPr>
          <a:xfrm>
            <a:off x="10076672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2" name="격자 9"/>
          <p:cNvSpPr/>
          <p:nvPr/>
        </p:nvSpPr>
        <p:spPr>
          <a:xfrm>
            <a:off x="10966656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3" name="격자 10"/>
          <p:cNvSpPr/>
          <p:nvPr/>
        </p:nvSpPr>
        <p:spPr>
          <a:xfrm>
            <a:off x="11856640" y="1510000"/>
            <a:ext cx="9525" cy="2035000"/>
          </a:xfrm>
          <a:prstGeom prst="rect">
            <a:avLst/>
          </a:prstGeom>
          <a:solidFill>
            <a:srgbClr val="EFF2F7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4" name="간트라벨 01"/>
          <p:cNvSpPr txBox="1"/>
          <p:nvPr/>
        </p:nvSpPr>
        <p:spPr>
          <a:xfrm>
            <a:off x="426800" y="1570000"/>
            <a:ext cx="2350000" cy="39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b="1" spc="-20" dirty="0">
                <a:solidFill>
                  <a:srgbClr val="7A5AA8"/>
                </a:solidFill>
                <a:latin typeface="맑은 고딕"/>
                <a:ea typeface="맑은 고딕"/>
                <a:cs typeface="Arial"/>
              </a:rPr>
              <a:t>01   </a:t>
            </a:r>
            <a:r>
              <a:rPr lang="ko-KR" altLang="en-US" sz="105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KOM &amp; 방향성 검토</a:t>
            </a:r>
          </a:p>
        </p:txBody>
      </p:sp>
      <p:sp>
        <p:nvSpPr>
          <p:cNvPr id="1025" name="기간바 01"/>
          <p:cNvSpPr/>
          <p:nvPr/>
        </p:nvSpPr>
        <p:spPr>
          <a:xfrm>
            <a:off x="2956800" y="1675000"/>
            <a:ext cx="489491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6" name="행배경 1"/>
          <p:cNvSpPr/>
          <p:nvPr/>
        </p:nvSpPr>
        <p:spPr>
          <a:xfrm>
            <a:off x="426800" y="1965000"/>
            <a:ext cx="11429840" cy="395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7" name="간트라벨 02"/>
          <p:cNvSpPr txBox="1"/>
          <p:nvPr/>
        </p:nvSpPr>
        <p:spPr>
          <a:xfrm>
            <a:off x="426800" y="1965000"/>
            <a:ext cx="2350000" cy="39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b="1" spc="-20" dirty="0">
                <a:solidFill>
                  <a:srgbClr val="5B54B8"/>
                </a:solidFill>
                <a:latin typeface="맑은 고딕"/>
                <a:ea typeface="맑은 고딕"/>
                <a:cs typeface="Arial"/>
              </a:rPr>
              <a:t>02   </a:t>
            </a:r>
            <a:r>
              <a:rPr lang="ko-KR" altLang="en-US" sz="105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L&amp;L System Mgmt</a:t>
            </a:r>
          </a:p>
        </p:txBody>
      </p:sp>
      <p:sp>
        <p:nvSpPr>
          <p:cNvPr id="1028" name="기간바 02"/>
          <p:cNvSpPr/>
          <p:nvPr/>
        </p:nvSpPr>
        <p:spPr>
          <a:xfrm>
            <a:off x="3446291" y="2070000"/>
            <a:ext cx="845484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B54B8"/>
              </a:gs>
              <a:gs pos="100000">
                <a:srgbClr val="423C90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29" name="간트라벨 03"/>
          <p:cNvSpPr txBox="1"/>
          <p:nvPr/>
        </p:nvSpPr>
        <p:spPr>
          <a:xfrm>
            <a:off x="426800" y="2360000"/>
            <a:ext cx="2350000" cy="39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b="1" spc="-20" dirty="0">
                <a:solidFill>
                  <a:srgbClr val="4A63C4"/>
                </a:solidFill>
                <a:latin typeface="맑은 고딕"/>
                <a:ea typeface="맑은 고딕"/>
                <a:cs typeface="Arial"/>
              </a:rPr>
              <a:t>03   </a:t>
            </a:r>
            <a:r>
              <a:rPr lang="ko-KR" altLang="en-US" sz="105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Trend Mgmt</a:t>
            </a:r>
          </a:p>
        </p:txBody>
      </p:sp>
      <p:sp>
        <p:nvSpPr>
          <p:cNvPr id="1030" name="기간바 03"/>
          <p:cNvSpPr/>
          <p:nvPr/>
        </p:nvSpPr>
        <p:spPr>
          <a:xfrm>
            <a:off x="4291776" y="2465000"/>
            <a:ext cx="889984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1" name="행배경 3"/>
          <p:cNvSpPr/>
          <p:nvPr/>
        </p:nvSpPr>
        <p:spPr>
          <a:xfrm>
            <a:off x="426800" y="2755000"/>
            <a:ext cx="11429840" cy="395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2" name="간트라벨 04"/>
          <p:cNvSpPr txBox="1"/>
          <p:nvPr/>
        </p:nvSpPr>
        <p:spPr>
          <a:xfrm>
            <a:off x="426800" y="2755000"/>
            <a:ext cx="2350000" cy="39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b="1" spc="-20" dirty="0">
                <a:solidFill>
                  <a:srgbClr val="3F87D0"/>
                </a:solidFill>
                <a:latin typeface="맑은 고딕"/>
                <a:ea typeface="맑은 고딕"/>
                <a:cs typeface="Arial"/>
              </a:rPr>
              <a:t>04   </a:t>
            </a:r>
            <a:r>
              <a:rPr lang="ko-KR" altLang="en-US" sz="105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Risk Mgmt</a:t>
            </a:r>
          </a:p>
        </p:txBody>
      </p:sp>
      <p:sp>
        <p:nvSpPr>
          <p:cNvPr id="1033" name="기간바 04"/>
          <p:cNvSpPr/>
          <p:nvPr/>
        </p:nvSpPr>
        <p:spPr>
          <a:xfrm>
            <a:off x="5181760" y="2860000"/>
            <a:ext cx="1334976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4" name="공백기 04"/>
          <p:cNvSpPr/>
          <p:nvPr/>
        </p:nvSpPr>
        <p:spPr>
          <a:xfrm>
            <a:off x="6516736" y="2952500"/>
            <a:ext cx="1779968" cy="0"/>
          </a:xfrm>
          <a:prstGeom prst="line">
            <a:avLst/>
          </a:prstGeom>
          <a:noFill/>
          <a:ln w="9525">
            <a:solidFill>
              <a:srgbClr val="3F87D0">
                <a:alpha val="45000"/>
              </a:srgbClr>
            </a:solidFill>
            <a:prstDash val="sysDot"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5" name="기간바 04"/>
          <p:cNvSpPr/>
          <p:nvPr/>
        </p:nvSpPr>
        <p:spPr>
          <a:xfrm>
            <a:off x="8296704" y="2860000"/>
            <a:ext cx="889984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6" name="간트라벨 05"/>
          <p:cNvSpPr txBox="1"/>
          <p:nvPr/>
        </p:nvSpPr>
        <p:spPr>
          <a:xfrm>
            <a:off x="426800" y="3150000"/>
            <a:ext cx="2350000" cy="39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lang="ko-KR" altLang="en-US" sz="1050" b="1" spc="-20" dirty="0">
                <a:solidFill>
                  <a:srgbClr val="2FB3D6"/>
                </a:solidFill>
                <a:latin typeface="맑은 고딕"/>
                <a:ea typeface="맑은 고딕"/>
                <a:cs typeface="Arial"/>
              </a:rPr>
              <a:t>05   </a:t>
            </a:r>
            <a:r>
              <a:rPr lang="ko-KR" altLang="en-US" sz="105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시스템 개발 Wrap-up</a:t>
            </a:r>
          </a:p>
        </p:txBody>
      </p:sp>
      <p:sp>
        <p:nvSpPr>
          <p:cNvPr id="1037" name="기간바 05"/>
          <p:cNvSpPr/>
          <p:nvPr/>
        </p:nvSpPr>
        <p:spPr>
          <a:xfrm>
            <a:off x="9186688" y="3255000"/>
            <a:ext cx="2669952" cy="185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8" name="카드 01"/>
          <p:cNvSpPr/>
          <p:nvPr/>
        </p:nvSpPr>
        <p:spPr>
          <a:xfrm>
            <a:off x="426800" y="3760000"/>
            <a:ext cx="2176240" cy="1960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39" name="카드스트립 01"/>
          <p:cNvSpPr/>
          <p:nvPr/>
        </p:nvSpPr>
        <p:spPr>
          <a:xfrm>
            <a:off x="483382" y="3760000"/>
            <a:ext cx="2063076" cy="42000"/>
          </a:xfrm>
          <a:prstGeom prst="rect">
            <a:avLst/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0" name="배지 01"/>
          <p:cNvSpPr/>
          <p:nvPr/>
        </p:nvSpPr>
        <p:spPr>
          <a:xfrm>
            <a:off x="556800" y="389000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7A5AA8"/>
              </a:gs>
              <a:gs pos="100000">
                <a:srgbClr val="5B4185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01</a:t>
            </a:r>
          </a:p>
        </p:txBody>
      </p:sp>
      <p:sp>
        <p:nvSpPr>
          <p:cNvPr id="1041" name="기간칩 01"/>
          <p:cNvSpPr/>
          <p:nvPr/>
        </p:nvSpPr>
        <p:spPr>
          <a:xfrm>
            <a:off x="1353040" y="3945000"/>
            <a:ext cx="1120000" cy="230000"/>
          </a:xfrm>
          <a:prstGeom prst="roundRect">
            <a:avLst>
              <a:gd name="adj" fmla="val 45000"/>
            </a:avLst>
          </a:prstGeom>
          <a:solidFill>
            <a:srgbClr val="F1EC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5B4185"/>
                </a:solidFill>
                <a:latin typeface="맑은 고딕"/>
                <a:ea typeface="맑은 고딕"/>
                <a:cs typeface="Arial"/>
              </a:rPr>
              <a:t>~ 3월 중순</a:t>
            </a:r>
          </a:p>
        </p:txBody>
      </p:sp>
      <p:sp>
        <p:nvSpPr>
          <p:cNvPr id="1042" name="카드제목 01"/>
          <p:cNvSpPr txBox="1"/>
          <p:nvPr/>
        </p:nvSpPr>
        <p:spPr>
          <a:xfrm>
            <a:off x="556800" y="4305000"/>
            <a:ext cx="19162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3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KOM &amp; 방향성 검토</a:t>
            </a:r>
          </a:p>
        </p:txBody>
      </p:sp>
      <p:sp>
        <p:nvSpPr>
          <p:cNvPr id="1043" name="카드선 01"/>
          <p:cNvSpPr/>
          <p:nvPr/>
        </p:nvSpPr>
        <p:spPr>
          <a:xfrm>
            <a:off x="556800" y="4850000"/>
            <a:ext cx="19162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4" name="카드본문 01"/>
          <p:cNvSpPr txBox="1"/>
          <p:nvPr/>
        </p:nvSpPr>
        <p:spPr>
          <a:xfrm>
            <a:off x="556800" y="4920000"/>
            <a:ext cx="1916240" cy="6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250"/>
              </a:lnSpc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TFT 결성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현업 시스템 · 공종별 업무 파악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7A5AA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2개 시스템 필요성 도출</a:t>
            </a:r>
          </a:p>
        </p:txBody>
      </p:sp>
      <p:sp>
        <p:nvSpPr>
          <p:cNvPr id="1045" name="카드 02"/>
          <p:cNvSpPr/>
          <p:nvPr/>
        </p:nvSpPr>
        <p:spPr>
          <a:xfrm>
            <a:off x="2740200" y="3760000"/>
            <a:ext cx="2176240" cy="1960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6" name="카드스트립 02"/>
          <p:cNvSpPr/>
          <p:nvPr/>
        </p:nvSpPr>
        <p:spPr>
          <a:xfrm>
            <a:off x="2796782" y="3760000"/>
            <a:ext cx="2063076" cy="42000"/>
          </a:xfrm>
          <a:prstGeom prst="rect">
            <a:avLst/>
          </a:prstGeom>
          <a:gradFill flip="none" rotWithShape="1">
            <a:gsLst>
              <a:gs pos="0">
                <a:srgbClr val="5B54B8"/>
              </a:gs>
              <a:gs pos="100000">
                <a:srgbClr val="423C90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47" name="배지 02"/>
          <p:cNvSpPr/>
          <p:nvPr/>
        </p:nvSpPr>
        <p:spPr>
          <a:xfrm>
            <a:off x="2870200" y="389000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5B54B8"/>
              </a:gs>
              <a:gs pos="100000">
                <a:srgbClr val="423C90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02</a:t>
            </a:r>
          </a:p>
        </p:txBody>
      </p:sp>
      <p:sp>
        <p:nvSpPr>
          <p:cNvPr id="1048" name="기간칩 02"/>
          <p:cNvSpPr/>
          <p:nvPr/>
        </p:nvSpPr>
        <p:spPr>
          <a:xfrm>
            <a:off x="3666440" y="3945000"/>
            <a:ext cx="1120000" cy="230000"/>
          </a:xfrm>
          <a:prstGeom prst="roundRect">
            <a:avLst>
              <a:gd name="adj" fmla="val 45000"/>
            </a:avLst>
          </a:prstGeom>
          <a:solidFill>
            <a:srgbClr val="EDECF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423C90"/>
                </a:solidFill>
                <a:latin typeface="맑은 고딕"/>
                <a:ea typeface="맑은 고딕"/>
                <a:cs typeface="Arial"/>
              </a:rPr>
              <a:t>3월 중순 ~ 4월 중순</a:t>
            </a:r>
          </a:p>
        </p:txBody>
      </p:sp>
      <p:sp>
        <p:nvSpPr>
          <p:cNvPr id="1049" name="카드제목 02"/>
          <p:cNvSpPr txBox="1"/>
          <p:nvPr/>
        </p:nvSpPr>
        <p:spPr>
          <a:xfrm>
            <a:off x="2870200" y="4305000"/>
            <a:ext cx="19162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3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L&amp;L System Mgmt</a:t>
            </a:r>
          </a:p>
        </p:txBody>
      </p:sp>
      <p:sp>
        <p:nvSpPr>
          <p:cNvPr id="1050" name="카드선 02"/>
          <p:cNvSpPr/>
          <p:nvPr/>
        </p:nvSpPr>
        <p:spPr>
          <a:xfrm>
            <a:off x="2870200" y="4850000"/>
            <a:ext cx="19162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1" name="카드본문 02"/>
          <p:cNvSpPr txBox="1"/>
          <p:nvPr/>
        </p:nvSpPr>
        <p:spPr>
          <a:xfrm>
            <a:off x="2870200" y="4920000"/>
            <a:ext cx="1916240" cy="6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250"/>
              </a:lnSpc>
              <a:buClr>
                <a:srgbClr val="5B54B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HMAP 기반 L&amp;L 시스템 개발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5B54B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착수 전 사례 검토 체계 구축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5B54B8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미반영 건 Trend Mgmt 이관</a:t>
            </a:r>
          </a:p>
        </p:txBody>
      </p:sp>
      <p:sp>
        <p:nvSpPr>
          <p:cNvPr id="1052" name="카드 03"/>
          <p:cNvSpPr/>
          <p:nvPr/>
        </p:nvSpPr>
        <p:spPr>
          <a:xfrm>
            <a:off x="5053600" y="3760000"/>
            <a:ext cx="2176240" cy="1960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3" name="카드스트립 03"/>
          <p:cNvSpPr/>
          <p:nvPr/>
        </p:nvSpPr>
        <p:spPr>
          <a:xfrm>
            <a:off x="5110182" y="3760000"/>
            <a:ext cx="2063076" cy="42000"/>
          </a:xfrm>
          <a:prstGeom prst="rect">
            <a:avLst/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4" name="배지 03"/>
          <p:cNvSpPr/>
          <p:nvPr/>
        </p:nvSpPr>
        <p:spPr>
          <a:xfrm>
            <a:off x="5183600" y="389000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4A63C4"/>
              </a:gs>
              <a:gs pos="100000">
                <a:srgbClr val="35499C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03</a:t>
            </a:r>
          </a:p>
        </p:txBody>
      </p:sp>
      <p:sp>
        <p:nvSpPr>
          <p:cNvPr id="1055" name="기간칩 03"/>
          <p:cNvSpPr/>
          <p:nvPr/>
        </p:nvSpPr>
        <p:spPr>
          <a:xfrm>
            <a:off x="5979840" y="3945000"/>
            <a:ext cx="1120000" cy="230000"/>
          </a:xfrm>
          <a:prstGeom prst="roundRect">
            <a:avLst>
              <a:gd name="adj" fmla="val 45000"/>
            </a:avLst>
          </a:prstGeom>
          <a:solidFill>
            <a:srgbClr val="EAEE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35499C"/>
                </a:solidFill>
                <a:latin typeface="맑은 고딕"/>
                <a:ea typeface="맑은 고딕"/>
                <a:cs typeface="Arial"/>
              </a:rPr>
              <a:t>4월 중순 ~ 5월 중순</a:t>
            </a:r>
          </a:p>
        </p:txBody>
      </p:sp>
      <p:sp>
        <p:nvSpPr>
          <p:cNvPr id="1056" name="카드제목 03"/>
          <p:cNvSpPr txBox="1"/>
          <p:nvPr/>
        </p:nvSpPr>
        <p:spPr>
          <a:xfrm>
            <a:off x="5183600" y="4305000"/>
            <a:ext cx="19162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3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Trend Mgmt</a:t>
            </a:r>
          </a:p>
        </p:txBody>
      </p:sp>
      <p:sp>
        <p:nvSpPr>
          <p:cNvPr id="1057" name="카드선 03"/>
          <p:cNvSpPr/>
          <p:nvPr/>
        </p:nvSpPr>
        <p:spPr>
          <a:xfrm>
            <a:off x="5183600" y="4850000"/>
            <a:ext cx="19162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58" name="카드본문 03"/>
          <p:cNvSpPr txBox="1"/>
          <p:nvPr/>
        </p:nvSpPr>
        <p:spPr>
          <a:xfrm>
            <a:off x="5183600" y="4920000"/>
            <a:ext cx="1916240" cy="6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250"/>
              </a:lnSpc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SAT4 · CSSP 자료 연계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입찰 대비 변경사항 기록 · 관리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4A63C4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Log → Master → Trend 3단 분류</a:t>
            </a:r>
          </a:p>
        </p:txBody>
      </p:sp>
      <p:sp>
        <p:nvSpPr>
          <p:cNvPr id="1059" name="카드 04"/>
          <p:cNvSpPr/>
          <p:nvPr/>
        </p:nvSpPr>
        <p:spPr>
          <a:xfrm>
            <a:off x="7367000" y="3760000"/>
            <a:ext cx="2176240" cy="1960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0" name="카드스트립 04"/>
          <p:cNvSpPr/>
          <p:nvPr/>
        </p:nvSpPr>
        <p:spPr>
          <a:xfrm>
            <a:off x="7423582" y="3760000"/>
            <a:ext cx="2063076" cy="42000"/>
          </a:xfrm>
          <a:prstGeom prst="rect">
            <a:avLst/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1" name="배지 04"/>
          <p:cNvSpPr/>
          <p:nvPr/>
        </p:nvSpPr>
        <p:spPr>
          <a:xfrm>
            <a:off x="7497000" y="389000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3F87D0"/>
              </a:gs>
              <a:gs pos="100000">
                <a:srgbClr val="2C64A4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04</a:t>
            </a:r>
          </a:p>
        </p:txBody>
      </p:sp>
      <p:sp>
        <p:nvSpPr>
          <p:cNvPr id="1062" name="기간칩 04"/>
          <p:cNvSpPr/>
          <p:nvPr/>
        </p:nvSpPr>
        <p:spPr>
          <a:xfrm>
            <a:off x="8293240" y="3945000"/>
            <a:ext cx="1120000" cy="230000"/>
          </a:xfrm>
          <a:prstGeom prst="roundRect">
            <a:avLst>
              <a:gd name="adj" fmla="val 45000"/>
            </a:avLst>
          </a:prstGeom>
          <a:solidFill>
            <a:srgbClr val="E8F1F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2C64A4"/>
                </a:solidFill>
                <a:latin typeface="맑은 고딕"/>
                <a:ea typeface="맑은 고딕"/>
                <a:cs typeface="Arial"/>
              </a:rPr>
              <a:t>5월 중순 ~ 6월, 9월</a:t>
            </a:r>
          </a:p>
        </p:txBody>
      </p:sp>
      <p:sp>
        <p:nvSpPr>
          <p:cNvPr id="1063" name="카드제목 04"/>
          <p:cNvSpPr txBox="1"/>
          <p:nvPr/>
        </p:nvSpPr>
        <p:spPr>
          <a:xfrm>
            <a:off x="7497000" y="4305000"/>
            <a:ext cx="19162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3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Risk Mgmt</a:t>
            </a:r>
          </a:p>
        </p:txBody>
      </p:sp>
      <p:sp>
        <p:nvSpPr>
          <p:cNvPr id="1064" name="카드선 04"/>
          <p:cNvSpPr/>
          <p:nvPr/>
        </p:nvSpPr>
        <p:spPr>
          <a:xfrm>
            <a:off x="7497000" y="4850000"/>
            <a:ext cx="19162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5" name="카드본문 04"/>
          <p:cNvSpPr txBox="1"/>
          <p:nvPr/>
        </p:nvSpPr>
        <p:spPr>
          <a:xfrm>
            <a:off x="7497000" y="4920000"/>
            <a:ext cx="1916240" cy="6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250"/>
              </a:lnSpc>
              <a:buClr>
                <a:srgbClr val="3F87D0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L&amp;L 에 리스크 개념 도입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3F87D0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Trend Mgmt 에 리스크 개념 도입</a:t>
            </a:r>
          </a:p>
        </p:txBody>
      </p:sp>
      <p:sp>
        <p:nvSpPr>
          <p:cNvPr id="1066" name="카드 05"/>
          <p:cNvSpPr/>
          <p:nvPr/>
        </p:nvSpPr>
        <p:spPr>
          <a:xfrm>
            <a:off x="9680400" y="3760000"/>
            <a:ext cx="2176240" cy="1960000"/>
          </a:xfrm>
          <a:prstGeom prst="roundRect">
            <a:avLst>
              <a:gd name="adj" fmla="val 2600"/>
            </a:avLst>
          </a:prstGeom>
          <a:solidFill>
            <a:srgbClr val="F7F9FC"/>
          </a:solidFill>
          <a:ln w="9525">
            <a:solidFill>
              <a:srgbClr val="E4EAF2"/>
            </a:solidFill>
          </a:ln>
          <a:effectLst>
            <a:outerShdw blurRad="101600" dist="25400" dir="5400000" rotWithShape="0">
              <a:srgbClr val="1B2A41">
                <a:alpha val="14000"/>
              </a:srgbClr>
            </a:outerShdw>
          </a:effectLst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7" name="카드스트립 05"/>
          <p:cNvSpPr/>
          <p:nvPr/>
        </p:nvSpPr>
        <p:spPr>
          <a:xfrm>
            <a:off x="9736982" y="3760000"/>
            <a:ext cx="2063076" cy="42000"/>
          </a:xfrm>
          <a:prstGeom prst="rect">
            <a:avLst/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0" scaled="0"/>
          </a:gra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68" name="배지 05"/>
          <p:cNvSpPr/>
          <p:nvPr/>
        </p:nvSpPr>
        <p:spPr>
          <a:xfrm>
            <a:off x="9810400" y="3890000"/>
            <a:ext cx="340000" cy="340000"/>
          </a:xfrm>
          <a:prstGeom prst="roundRect">
            <a:avLst>
              <a:gd name="adj" fmla="val 28000"/>
            </a:avLst>
          </a:prstGeom>
          <a:gradFill flip="none" rotWithShape="1">
            <a:gsLst>
              <a:gs pos="0">
                <a:srgbClr val="2FB3D6"/>
              </a:gs>
              <a:gs pos="100000">
                <a:srgbClr val="1F8AA8"/>
              </a:gs>
            </a:gsLst>
            <a:lin ang="2700000" scaled="0"/>
          </a:gra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1300" b="1" spc="-20" dirty="0">
                <a:solidFill>
                  <a:srgbClr val="FFFFFF"/>
                </a:solidFill>
                <a:latin typeface="맑은 고딕"/>
                <a:ea typeface="맑은 고딕"/>
                <a:cs typeface="Arial"/>
              </a:rPr>
              <a:t>05</a:t>
            </a:r>
          </a:p>
        </p:txBody>
      </p:sp>
      <p:sp>
        <p:nvSpPr>
          <p:cNvPr id="1069" name="기간칩 05"/>
          <p:cNvSpPr/>
          <p:nvPr/>
        </p:nvSpPr>
        <p:spPr>
          <a:xfrm>
            <a:off x="10606640" y="3945000"/>
            <a:ext cx="1120000" cy="230000"/>
          </a:xfrm>
          <a:prstGeom prst="roundRect">
            <a:avLst>
              <a:gd name="adj" fmla="val 45000"/>
            </a:avLst>
          </a:prstGeom>
          <a:solidFill>
            <a:srgbClr val="E5F6F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ko-KR" altLang="en-US" sz="850" b="1" spc="-20" dirty="0">
                <a:solidFill>
                  <a:srgbClr val="1F8AA8"/>
                </a:solidFill>
                <a:latin typeface="맑은 고딕"/>
                <a:ea typeface="맑은 고딕"/>
                <a:cs typeface="Arial"/>
              </a:rPr>
              <a:t>10월 ~ 12월</a:t>
            </a:r>
          </a:p>
        </p:txBody>
      </p:sp>
      <p:sp>
        <p:nvSpPr>
          <p:cNvPr id="1070" name="카드제목 05"/>
          <p:cNvSpPr txBox="1"/>
          <p:nvPr/>
        </p:nvSpPr>
        <p:spPr>
          <a:xfrm>
            <a:off x="9810400" y="4305000"/>
            <a:ext cx="19162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ko-KR" altLang="en-US" sz="1300" b="1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시스템 개발 Wrap-up</a:t>
            </a:r>
          </a:p>
        </p:txBody>
      </p:sp>
      <p:sp>
        <p:nvSpPr>
          <p:cNvPr id="1071" name="카드선 05"/>
          <p:cNvSpPr/>
          <p:nvPr/>
        </p:nvSpPr>
        <p:spPr>
          <a:xfrm>
            <a:off x="9810400" y="4850000"/>
            <a:ext cx="1916240" cy="9525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2" name="카드본문 05"/>
          <p:cNvSpPr txBox="1"/>
          <p:nvPr/>
        </p:nvSpPr>
        <p:spPr>
          <a:xfrm>
            <a:off x="9810400" y="4920000"/>
            <a:ext cx="1916240" cy="6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ts val="1250"/>
              </a:lnSpc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보안 · 로그인 기능 추가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결제 시스템 연동</a:t>
            </a:r>
          </a:p>
          <a:p>
            <a:pPr marL="139700" indent="-139700" algn="l">
              <a:lnSpc>
                <a:spcPts val="1250"/>
              </a:lnSpc>
              <a:spcBef>
                <a:spcPts val="450"/>
              </a:spcBef>
              <a:buClr>
                <a:srgbClr val="2FB3D6"/>
              </a:buClr>
              <a:buSzPct val="90000"/>
              <a:buFont typeface="Arial"/>
              <a:buChar char="▪"/>
            </a:pPr>
            <a:r>
              <a:rPr lang="ko-KR" altLang="en-US" sz="1000" spc="-20" dirty="0">
                <a:solidFill>
                  <a:srgbClr val="44536A"/>
                </a:solidFill>
                <a:latin typeface="맑은 고딕"/>
                <a:ea typeface="맑은 고딕"/>
                <a:cs typeface="Arial"/>
              </a:rPr>
              <a:t>시스템 런칭 예정</a:t>
            </a:r>
          </a:p>
        </p:txBody>
      </p:sp>
      <p:sp>
        <p:nvSpPr>
          <p:cNvPr id="1073" name="핵심방향"/>
          <p:cNvSpPr/>
          <p:nvPr/>
        </p:nvSpPr>
        <p:spPr>
          <a:xfrm>
            <a:off x="426800" y="5880000"/>
            <a:ext cx="11429840" cy="520000"/>
          </a:xfrm>
          <a:prstGeom prst="roundRect">
            <a:avLst>
              <a:gd name="adj" fmla="val 9000"/>
            </a:avLst>
          </a:prstGeom>
          <a:gradFill flip="none" rotWithShape="1">
            <a:gsLst>
              <a:gs pos="0">
                <a:srgbClr val="F2F6FC"/>
              </a:gs>
              <a:gs pos="100000">
                <a:srgbClr val="EAF0F8"/>
              </a:gs>
            </a:gsLst>
            <a:lin ang="0" scaled="0"/>
          </a:gradFill>
          <a:ln w="9525">
            <a:solidFill>
              <a:srgbClr val="DDE5F0"/>
            </a:solidFill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4" name="핵심방향 액센트"/>
          <p:cNvSpPr/>
          <p:nvPr/>
        </p:nvSpPr>
        <p:spPr>
          <a:xfrm>
            <a:off x="526800" y="5990000"/>
            <a:ext cx="48000" cy="300000"/>
          </a:xfrm>
          <a:prstGeom prst="roundRect">
            <a:avLst>
              <a:gd name="adj" fmla="val 50000"/>
            </a:avLst>
          </a:prstGeom>
          <a:solidFill>
            <a:srgbClr val="014099"/>
          </a:solidFill>
          <a:ln>
            <a:noFill/>
          </a:ln>
        </p:spPr>
        <p:txBody>
          <a:bodyPr wrap="none" anchor="ctr"/>
          <a:lstStyle/>
          <a:p>
            <a:pPr algn="ctr">
              <a:buNone/>
            </a:pPr>
            <a:endParaRPr lang="ko-KR"/>
          </a:p>
        </p:txBody>
      </p:sp>
      <p:sp>
        <p:nvSpPr>
          <p:cNvPr id="1075" name="핵심방향 문구"/>
          <p:cNvSpPr txBox="1"/>
          <p:nvPr/>
        </p:nvSpPr>
        <p:spPr>
          <a:xfrm>
            <a:off x="666800" y="5880000"/>
            <a:ext cx="11029840" cy="5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ko-KR" altLang="en-US" sz="1100" b="1" spc="-20" dirty="0">
                <a:solidFill>
                  <a:srgbClr val="014099"/>
                </a:solidFill>
                <a:latin typeface="맑은 고딕"/>
                <a:ea typeface="맑은 고딕"/>
                <a:cs typeface="Arial"/>
              </a:rPr>
              <a:t>핵심 방향     </a:t>
            </a:r>
            <a:r>
              <a:rPr lang="ko-KR" altLang="en-US" sz="1050" spc="-20" dirty="0">
                <a:solidFill>
                  <a:srgbClr val="1B2A41"/>
                </a:solidFill>
                <a:latin typeface="맑은 고딕"/>
                <a:ea typeface="맑은 고딕"/>
                <a:cs typeface="Arial"/>
              </a:rPr>
              <a:t>현업이 실제 사용하는 체계(L&amp;L · Trend Management)를 기반으로 개발하고, 여기에 리스크 관리 관점을 접목 → 보안 · 결제까지 갖춘 통합 시스템으로 런칭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29547</TotalTime>
  <Words>2743</Words>
  <Application>Microsoft Office PowerPoint</Application>
  <PresentationFormat>와이드스크린</PresentationFormat>
  <Paragraphs>1022</Paragraphs>
  <Slides>4</Slides>
  <Notes>2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PowerPoint 프레젠테이션</vt:lpstr>
      <vt:lpstr>목  차 </vt:lpstr>
      <vt:lpstr>슬라이드제목</vt:lpstr>
      <vt:lpstr>PowerPoint 프레젠테이션</vt:lpstr>
    </vt:vector>
  </TitlesOfParts>
  <Company>HDEC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김혜윤(KIM HAE YUN)</dc:creator>
  <cp:lastModifiedBy>kihun song</cp:lastModifiedBy>
  <cp:revision>1463</cp:revision>
  <cp:lastPrinted>2022-05-11T23:15:41Z</cp:lastPrinted>
  <dcterms:created xsi:type="dcterms:W3CDTF">2011-02-08T05:54:54Z</dcterms:created>
  <dcterms:modified xsi:type="dcterms:W3CDTF">2026-09-02T01:01:49Z</dcterms:modified>
</cp:coreProperties>
</file>