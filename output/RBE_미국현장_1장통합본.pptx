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797675" cy="98726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0033CC"/>
    <a:srgbClr val="3333CC"/>
    <a:srgbClr val="C80000"/>
    <a:srgbClr val="FF9900"/>
    <a:srgbClr val="33CC33"/>
    <a:srgbClr val="0F398F"/>
    <a:srgbClr val="144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0" autoAdjust="0"/>
    <p:restoredTop sz="96804" autoAdjust="0"/>
  </p:normalViewPr>
  <p:slideViewPr>
    <p:cSldViewPr>
      <p:cViewPr varScale="1">
        <p:scale>
          <a:sx n="121" d="100"/>
          <a:sy n="121" d="100"/>
        </p:scale>
        <p:origin x="132" y="222"/>
      </p:cViewPr>
      <p:guideLst>
        <p:guide orient="horz" pos="3566"/>
        <p:guide pos="2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48" y="-96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3FE285-BCD1-454B-9ABB-5ACA170B4AC4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F7B0F9-2746-47D6-B1C4-A25D92A1E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463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C6DEE9-2C2A-46E0-8D0A-0B2A7434BF60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5" tIns="45568" rIns="91135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688721"/>
            <a:ext cx="5438775" cy="4444286"/>
          </a:xfrm>
          <a:prstGeom prst="rect">
            <a:avLst/>
          </a:prstGeom>
        </p:spPr>
        <p:txBody>
          <a:bodyPr vert="horz" lIns="91135" tIns="45568" rIns="91135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FC4998-0E65-4FC5-9425-339769C5A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6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50" indent="-28575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38" indent="-254000">
              <a:lnSpc>
                <a:spcPts val="2160"/>
              </a:lnSpc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8038" indent="-268288">
              <a:lnSpc>
                <a:spcPts val="2100"/>
              </a:lnSpc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938" indent="-134938"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60000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08299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36F77048-831F-4214-AFB5-F686D2A46E25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82742" y="764704"/>
            <a:ext cx="7621770" cy="5871046"/>
          </a:xfrm>
          <a:prstGeom prst="rect">
            <a:avLst/>
          </a:prstGeom>
        </p:spPr>
        <p:txBody>
          <a:bodyPr/>
          <a:lstStyle>
            <a:lvl1pPr marL="180000" indent="-432000">
              <a:lnSpc>
                <a:spcPct val="200000"/>
              </a:lnSpc>
              <a:buFont typeface="+mj-lt"/>
              <a:buAutoNum type="romanUcPeriod"/>
              <a:defRPr sz="1800" b="1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32000" indent="216000">
              <a:lnSpc>
                <a:spcPts val="1850"/>
              </a:lnSpc>
              <a:buFont typeface="+mj-lt"/>
              <a:buAutoNum type="arabicPeriod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4000" indent="216000">
              <a:lnSpc>
                <a:spcPts val="1850"/>
              </a:lnSpc>
              <a:buFont typeface="+mj-lt"/>
              <a:buAutoNum type="arabicParenR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58110" y="12701"/>
            <a:ext cx="11698530" cy="549275"/>
          </a:xfrm>
          <a:prstGeom prst="rect">
            <a:avLst/>
          </a:prstGeom>
        </p:spPr>
        <p:txBody>
          <a:bodyPr anchor="ctr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783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9985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09BAF6E-014A-4D9C-B942-1CBCC7133741}" type="datetimeFigureOut">
              <a:rPr lang="ko-KR" altLang="en-US" smtClean="0"/>
              <a:pPr/>
              <a:t>2026. 9. 2.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91C5C8B-181F-4726-B8DF-5AD4BF9F132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24423" y="1052513"/>
            <a:ext cx="10943167" cy="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109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25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lvl2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2pPr>
            <a:lvl3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3pPr>
            <a:lvl4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5pPr>
            <a:extLst/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" name="제목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 rtlCol="0">
            <a:normAutofit/>
          </a:bodyPr>
          <a:lstStyle>
            <a:lvl1pPr>
              <a:defRPr sz="2275">
                <a:solidFill>
                  <a:srgbClr val="002060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0883449" y="76526"/>
            <a:ext cx="1150055" cy="2925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500" b="1" dirty="0">
                <a:solidFill>
                  <a:prstClr val="black"/>
                </a:solidFill>
              </a:rPr>
              <a:t>대외비</a:t>
            </a:r>
          </a:p>
        </p:txBody>
      </p:sp>
      <p:pic>
        <p:nvPicPr>
          <p:cNvPr id="9" name="그림 6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49281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3493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66750" y="1544836"/>
            <a:ext cx="10858500" cy="232171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5765" spc="-58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50469"/>
            <a:ext cx="10858500" cy="1023417"/>
          </a:xfrm>
          <a:prstGeom prst="rect">
            <a:avLst/>
          </a:prstGeom>
        </p:spPr>
        <p:txBody>
          <a:bodyPr/>
          <a:lstStyle>
            <a:lvl1pPr marL="0" indent="0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1pPr>
            <a:lvl2pPr marL="0" indent="321457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2pPr>
            <a:lvl3pPr marL="0" indent="642915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3pPr>
            <a:lvl4pPr marL="0" indent="964372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4pPr>
            <a:lvl5pPr marL="0" indent="1285829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66750" y="5913856"/>
            <a:ext cx="10858500" cy="301824"/>
          </a:xfrm>
          <a:prstGeom prst="rect">
            <a:avLst/>
          </a:prstGeom>
        </p:spPr>
        <p:txBody>
          <a:bodyPr/>
          <a:lstStyle>
            <a:lvl1pPr marL="0" indent="0" algn="ctr" defTabSz="400353">
              <a:lnSpc>
                <a:spcPct val="100000"/>
              </a:lnSpc>
              <a:spcBef>
                <a:spcPts val="0"/>
              </a:spcBef>
              <a:buSzTx/>
              <a:buNone/>
              <a:defRPr sz="1364" spc="-13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 Next Medium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65974" y="6418819"/>
            <a:ext cx="261482" cy="223619"/>
          </a:xfrm>
          <a:prstGeom prst="rect">
            <a:avLst/>
          </a:prstGeom>
        </p:spPr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12181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36" indent="-285736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10" indent="-253987">
              <a:lnSpc>
                <a:spcPts val="2160"/>
              </a:lnSpc>
              <a:buSzPct val="100000"/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7997" indent="-268274">
              <a:lnSpc>
                <a:spcPts val="2100"/>
              </a:lnSpc>
              <a:buSzPct val="100000"/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892" indent="-134931">
              <a:buSzPct val="100000"/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86918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51987" indent="-251987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39972" indent="-251987">
              <a:lnSpc>
                <a:spcPts val="2160"/>
              </a:lnSpc>
              <a:buFont typeface="+mj-lt"/>
              <a:buAutoNum type="arabicParenR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3965" indent="-143993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1079945">
              <a:defRPr sz="1400"/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268840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78" r:id="rId3"/>
    <p:sldLayoutId id="2147484582" r:id="rId4"/>
    <p:sldLayoutId id="2147484583" r:id="rId5"/>
    <p:sldLayoutId id="2147484584" r:id="rId6"/>
    <p:sldLayoutId id="2147484585" r:id="rId7"/>
    <p:sldLayoutId id="2147484586" r:id="rId8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미국 제철소 건설현장 RBE-i 적용 및 전담 운영 방안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RBE-i</a:t>
            </a:r>
          </a:p>
        </p:txBody>
      </p:sp>
      <p:sp>
        <p:nvSpPr>
          <p:cNvPr id="1001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본부장 보고   |   범위 : 착수 ~ Hand-over 완료</a:t>
            </a:r>
          </a:p>
        </p:txBody>
      </p:sp>
      <p:sp>
        <p:nvSpPr>
          <p:cNvPr id="1002" name="논리띠 1"/>
          <p:cNvSpPr/>
          <p:nvPr/>
        </p:nvSpPr>
        <p:spPr>
          <a:xfrm>
            <a:off x="427025" y="1243584"/>
            <a:ext cx="2740914" cy="365760"/>
          </a:xfrm>
          <a:prstGeom prst="roundRect">
            <a:avLst>
              <a:gd name="adj" fmla="val 11000"/>
            </a:avLst>
          </a:prstGeom>
          <a:solidFill>
            <a:srgbClr val="F2F6FC"/>
          </a:solidFill>
          <a:ln w="9525">
            <a:solidFill>
              <a:srgbClr val="DDE5F0"/>
            </a:solidFill>
          </a:ln>
        </p:spPr>
        <p:txBody>
          <a:bodyPr wrap="square" lIns="36000" tIns="0" rIns="3600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b="1" spc="-20" dirty="0">
                <a:solidFill>
                  <a:srgbClr val="C0392B"/>
                </a:solidFill>
                <a:latin typeface="맑은 고딕"/>
                <a:ea typeface="맑은 고딕"/>
                <a:cs typeface="Arial"/>
              </a:rPr>
              <a:t>01   </a:t>
            </a:r>
            <a:r>
              <a:rPr lang="ko-KR" altLang="en-US" sz="9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평가 후 실행 단절</a:t>
            </a:r>
          </a:p>
        </p:txBody>
      </p:sp>
      <p:sp>
        <p:nvSpPr>
          <p:cNvPr id="1003" name="논리띠화살 1"/>
          <p:cNvSpPr/>
          <p:nvPr/>
        </p:nvSpPr>
        <p:spPr>
          <a:xfrm rot="5400000">
            <a:off x="3199663" y="1370464"/>
            <a:ext cx="92000" cy="112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4" name="논리띠 2"/>
          <p:cNvSpPr/>
          <p:nvPr/>
        </p:nvSpPr>
        <p:spPr>
          <a:xfrm>
            <a:off x="3323387" y="1243584"/>
            <a:ext cx="2740914" cy="365760"/>
          </a:xfrm>
          <a:prstGeom prst="roundRect">
            <a:avLst>
              <a:gd name="adj" fmla="val 11000"/>
            </a:avLst>
          </a:prstGeom>
          <a:solidFill>
            <a:srgbClr val="F2F6FC"/>
          </a:solidFill>
          <a:ln w="9525">
            <a:solidFill>
              <a:srgbClr val="DDE5F0"/>
            </a:solidFill>
          </a:ln>
        </p:spPr>
        <p:txBody>
          <a:bodyPr wrap="square" lIns="36000" tIns="0" rIns="3600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b="1" spc="-20" dirty="0">
                <a:solidFill>
                  <a:srgbClr val="4A63C4"/>
                </a:solidFill>
                <a:latin typeface="맑은 고딕"/>
                <a:ea typeface="맑은 고딕"/>
                <a:cs typeface="Arial"/>
              </a:rPr>
              <a:t>02   </a:t>
            </a:r>
            <a:r>
              <a:rPr lang="ko-KR" altLang="en-US" sz="9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복합 리스크 통합 판단 필요</a:t>
            </a:r>
          </a:p>
        </p:txBody>
      </p:sp>
      <p:sp>
        <p:nvSpPr>
          <p:cNvPr id="1005" name="논리띠화살 2"/>
          <p:cNvSpPr/>
          <p:nvPr/>
        </p:nvSpPr>
        <p:spPr>
          <a:xfrm rot="5400000">
            <a:off x="6096025" y="1370464"/>
            <a:ext cx="92000" cy="112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6" name="논리띠 3"/>
          <p:cNvSpPr/>
          <p:nvPr/>
        </p:nvSpPr>
        <p:spPr>
          <a:xfrm>
            <a:off x="6219749" y="1243584"/>
            <a:ext cx="2740914" cy="365760"/>
          </a:xfrm>
          <a:prstGeom prst="roundRect">
            <a:avLst>
              <a:gd name="adj" fmla="val 11000"/>
            </a:avLst>
          </a:prstGeom>
          <a:solidFill>
            <a:srgbClr val="F2F6FC"/>
          </a:solidFill>
          <a:ln w="9525">
            <a:solidFill>
              <a:srgbClr val="DDE5F0"/>
            </a:solidFill>
          </a:ln>
        </p:spPr>
        <p:txBody>
          <a:bodyPr wrap="square" lIns="36000" tIns="0" rIns="3600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b="1" spc="-20" dirty="0">
                <a:solidFill>
                  <a:srgbClr val="3F87D0"/>
                </a:solidFill>
                <a:latin typeface="맑은 고딕"/>
                <a:ea typeface="맑은 고딕"/>
                <a:cs typeface="Arial"/>
              </a:rPr>
              <a:t>03   </a:t>
            </a:r>
            <a:r>
              <a:rPr lang="ko-KR" altLang="en-US" sz="9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폐쇄형 사이클 운영</a:t>
            </a:r>
          </a:p>
        </p:txBody>
      </p:sp>
      <p:sp>
        <p:nvSpPr>
          <p:cNvPr id="1007" name="논리띠화살 3"/>
          <p:cNvSpPr/>
          <p:nvPr/>
        </p:nvSpPr>
        <p:spPr>
          <a:xfrm rot="5400000">
            <a:off x="8992387" y="1370464"/>
            <a:ext cx="92000" cy="112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8" name="논리띠 4"/>
          <p:cNvSpPr/>
          <p:nvPr/>
        </p:nvSpPr>
        <p:spPr>
          <a:xfrm>
            <a:off x="9116111" y="1243584"/>
            <a:ext cx="2740914" cy="365760"/>
          </a:xfrm>
          <a:prstGeom prst="roundRect">
            <a:avLst>
              <a:gd name="adj" fmla="val 11000"/>
            </a:avLst>
          </a:prstGeom>
          <a:solidFill>
            <a:srgbClr val="F2F6FC"/>
          </a:solidFill>
          <a:ln w="9525">
            <a:solidFill>
              <a:srgbClr val="DDE5F0"/>
            </a:solidFill>
          </a:ln>
        </p:spPr>
        <p:txBody>
          <a:bodyPr wrap="square" lIns="36000" tIns="0" rIns="3600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b="1" spc="-20" dirty="0">
                <a:solidFill>
                  <a:srgbClr val="1F7A6B"/>
                </a:solidFill>
                <a:latin typeface="맑은 고딕"/>
                <a:ea typeface="맑은 고딕"/>
                <a:cs typeface="Arial"/>
              </a:rPr>
              <a:t>04   </a:t>
            </a:r>
            <a:r>
              <a:rPr lang="ko-KR" altLang="en-US" sz="9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전 기간 전담 실행 책임</a:t>
            </a:r>
          </a:p>
        </p:txBody>
      </p:sp>
      <p:sp>
        <p:nvSpPr>
          <p:cNvPr id="1009" name="열머리표식 C1"/>
          <p:cNvSpPr/>
          <p:nvPr/>
        </p:nvSpPr>
        <p:spPr>
          <a:xfrm>
            <a:off x="427025" y="1728216"/>
            <a:ext cx="52000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0" name="열머리 C1"/>
          <p:cNvSpPr txBox="1"/>
          <p:nvPr/>
        </p:nvSpPr>
        <p:spPr>
          <a:xfrm>
            <a:off x="527025" y="1700784"/>
            <a:ext cx="3600302" cy="2249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① 과거 RBE 운영의 한계</a:t>
            </a:r>
          </a:p>
        </p:txBody>
      </p:sp>
      <p:sp>
        <p:nvSpPr>
          <p:cNvPr id="1011" name="열머리선 C1"/>
          <p:cNvSpPr/>
          <p:nvPr/>
        </p:nvSpPr>
        <p:spPr>
          <a:xfrm>
            <a:off x="427025" y="1965579"/>
            <a:ext cx="3700302" cy="952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2" name="스텝배지 1"/>
          <p:cNvSpPr/>
          <p:nvPr/>
        </p:nvSpPr>
        <p:spPr>
          <a:xfrm>
            <a:off x="467025" y="2075968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1</a:t>
            </a:r>
          </a:p>
        </p:txBody>
      </p:sp>
      <p:sp>
        <p:nvSpPr>
          <p:cNvPr id="1013" name="스텝제목 1"/>
          <p:cNvSpPr txBox="1"/>
          <p:nvPr/>
        </p:nvSpPr>
        <p:spPr>
          <a:xfrm>
            <a:off x="715095" y="2055700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리스크 식별</a:t>
            </a:r>
          </a:p>
        </p:txBody>
      </p:sp>
      <p:sp>
        <p:nvSpPr>
          <p:cNvPr id="1014" name="스텝배지 2"/>
          <p:cNvSpPr/>
          <p:nvPr/>
        </p:nvSpPr>
        <p:spPr>
          <a:xfrm>
            <a:off x="467025" y="2359432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2</a:t>
            </a:r>
          </a:p>
        </p:txBody>
      </p:sp>
      <p:sp>
        <p:nvSpPr>
          <p:cNvPr id="1015" name="스텝제목 2"/>
          <p:cNvSpPr txBox="1"/>
          <p:nvPr/>
        </p:nvSpPr>
        <p:spPr>
          <a:xfrm>
            <a:off x="715095" y="2339164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리스크 평가</a:t>
            </a:r>
          </a:p>
        </p:txBody>
      </p:sp>
      <p:sp>
        <p:nvSpPr>
          <p:cNvPr id="1016" name="스텝바탕 3"/>
          <p:cNvSpPr/>
          <p:nvPr/>
        </p:nvSpPr>
        <p:spPr>
          <a:xfrm>
            <a:off x="427025" y="2596896"/>
            <a:ext cx="3700302" cy="245464"/>
          </a:xfrm>
          <a:prstGeom prst="roundRect">
            <a:avLst>
              <a:gd name="adj" fmla="val 7000"/>
            </a:avLst>
          </a:prstGeom>
          <a:solidFill>
            <a:srgbClr val="FBEEEC"/>
          </a:solidFill>
          <a:ln w="9525">
            <a:solidFill>
              <a:srgbClr val="F0D6D1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7" name="스텝배지 3"/>
          <p:cNvSpPr/>
          <p:nvPr/>
        </p:nvSpPr>
        <p:spPr>
          <a:xfrm>
            <a:off x="467025" y="2642896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C0392B"/>
              </a:gs>
              <a:gs pos="100000">
                <a:srgbClr val="96261A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3</a:t>
            </a:r>
          </a:p>
        </p:txBody>
      </p:sp>
      <p:sp>
        <p:nvSpPr>
          <p:cNvPr id="1018" name="스텝제목 3"/>
          <p:cNvSpPr txBox="1"/>
          <p:nvPr/>
        </p:nvSpPr>
        <p:spPr>
          <a:xfrm>
            <a:off x="715095" y="2622628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96261A"/>
                </a:solidFill>
                <a:latin typeface="맑은 고딕"/>
                <a:ea typeface="맑은 고딕"/>
                <a:cs typeface="Arial"/>
              </a:rPr>
              <a:t>실행 연계 단절</a:t>
            </a:r>
          </a:p>
        </p:txBody>
      </p:sp>
      <p:sp>
        <p:nvSpPr>
          <p:cNvPr id="1019" name="스텝바탕 4"/>
          <p:cNvSpPr/>
          <p:nvPr/>
        </p:nvSpPr>
        <p:spPr>
          <a:xfrm>
            <a:off x="427025" y="2880360"/>
            <a:ext cx="3700302" cy="245464"/>
          </a:xfrm>
          <a:prstGeom prst="roundRect">
            <a:avLst>
              <a:gd name="adj" fmla="val 7000"/>
            </a:avLst>
          </a:prstGeom>
          <a:solidFill>
            <a:srgbClr val="FBEEEC"/>
          </a:solidFill>
          <a:ln w="9525">
            <a:solidFill>
              <a:srgbClr val="F0D6D1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0" name="스텝배지 4"/>
          <p:cNvSpPr/>
          <p:nvPr/>
        </p:nvSpPr>
        <p:spPr>
          <a:xfrm>
            <a:off x="467025" y="2926360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C0392B"/>
              </a:gs>
              <a:gs pos="100000">
                <a:srgbClr val="96261A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4</a:t>
            </a:r>
          </a:p>
        </p:txBody>
      </p:sp>
      <p:sp>
        <p:nvSpPr>
          <p:cNvPr id="1021" name="스텝제목 4"/>
          <p:cNvSpPr txBox="1"/>
          <p:nvPr/>
        </p:nvSpPr>
        <p:spPr>
          <a:xfrm>
            <a:off x="715095" y="2906092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96261A"/>
                </a:solidFill>
                <a:latin typeface="맑은 고딕"/>
                <a:ea typeface="맑은 고딕"/>
                <a:cs typeface="Arial"/>
              </a:rPr>
              <a:t>평가 후 방치</a:t>
            </a:r>
          </a:p>
        </p:txBody>
      </p:sp>
      <p:graphicFrame>
        <p:nvGraphicFramePr>
          <p:cNvPr id="1022" name="한계표"/>
          <p:cNvGraphicFramePr>
            <a:graphicFrameLocks noGrp="1"/>
          </p:cNvGraphicFramePr>
          <p:nvPr/>
        </p:nvGraphicFramePr>
        <p:xfrm>
          <a:off x="427025" y="3236976"/>
          <a:ext cx="3700301" cy="128016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416164"/>
                <a:gridCol w="2284137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적용 방식</a:t>
                      </a:r>
                    </a:p>
                  </a:txBody>
                  <a:tcPr marL="91440" marR="91440" marT="45720" marB="45720">
                    <a:solidFill>
                      <a:srgbClr val="96261A"/>
                    </a:solidFill>
                    <a:lnL w="9525" cap="flat" cmpd="sng" algn="ctr">
                      <a:solidFill>
                        <a:srgbClr val="96261A"/>
                      </a:solidFill>
                    </a:lnL>
                    <a:lnR w="9525" cap="flat" cmpd="sng" algn="ctr">
                      <a:solidFill>
                        <a:srgbClr val="96261A"/>
                      </a:solidFill>
                    </a:lnR>
                    <a:lnT w="9525" cap="flat" cmpd="sng" algn="ctr">
                      <a:solidFill>
                        <a:srgbClr val="96261A"/>
                      </a:solidFill>
                    </a:lnT>
                    <a:lnB w="9525" cap="flat" cmpd="sng" algn="ctr">
                      <a:solidFill>
                        <a:srgbClr val="96261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나타난 결과</a:t>
                      </a:r>
                    </a:p>
                  </a:txBody>
                  <a:tcPr marL="91440" marR="91440" marT="45720" marB="45720">
                    <a:solidFill>
                      <a:srgbClr val="96261A"/>
                    </a:solidFill>
                    <a:lnL w="9525" cap="flat" cmpd="sng" algn="ctr">
                      <a:solidFill>
                        <a:srgbClr val="96261A"/>
                      </a:solidFill>
                    </a:lnL>
                    <a:lnR w="9525" cap="flat" cmpd="sng" algn="ctr">
                      <a:solidFill>
                        <a:srgbClr val="96261A"/>
                      </a:solidFill>
                    </a:lnR>
                    <a:lnT w="9525" cap="flat" cmpd="sng" algn="ctr">
                      <a:solidFill>
                        <a:srgbClr val="96261A"/>
                      </a:solidFill>
                    </a:lnT>
                    <a:lnB w="9525" cap="flat" cmpd="sng" algn="ctr">
                      <a:solidFill>
                        <a:srgbClr val="96261A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자율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수준이 현장별로 편차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인력 겸임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업무 우선, 리스크 후순위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책임자 미지정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· 기한 · 종결기준 부재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원격 지원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변화가 시스템에 미반영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22" name="핵심메시지"/>
          <p:cNvSpPr/>
          <p:nvPr/>
        </p:nvSpPr>
        <p:spPr>
          <a:xfrm>
            <a:off x="427025" y="4590288"/>
            <a:ext cx="3700302" cy="1152144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3" name="핵심메시지 액센트"/>
          <p:cNvSpPr/>
          <p:nvPr/>
        </p:nvSpPr>
        <p:spPr>
          <a:xfrm>
            <a:off x="527025" y="4700288"/>
            <a:ext cx="48000" cy="9321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4" name="핵심메시지 문구"/>
          <p:cNvSpPr txBox="1"/>
          <p:nvPr/>
        </p:nvSpPr>
        <p:spPr>
          <a:xfrm>
            <a:off x="667025" y="4590288"/>
            <a:ext cx="3300302" cy="11521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C0392B"/>
                </a:solidFill>
                <a:latin typeface="맑은 고딕"/>
                <a:ea typeface="맑은 고딕"/>
                <a:cs typeface="Arial"/>
              </a:rPr>
              <a:t>시사점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실패 원인은 평가 기능이 아니라 평가 이후의 실행을 책임질 운영 주체의 부재. 리스크는 평가로 줄지 않고 실행으로 줄어든다.</a:t>
            </a:r>
          </a:p>
        </p:txBody>
      </p:sp>
      <p:sp>
        <p:nvSpPr>
          <p:cNvPr id="1025" name="열머리표식 C2"/>
          <p:cNvSpPr/>
          <p:nvPr/>
        </p:nvSpPr>
        <p:spPr>
          <a:xfrm>
            <a:off x="4291919" y="1728216"/>
            <a:ext cx="52000" cy="164592"/>
          </a:xfrm>
          <a:prstGeom prst="rect">
            <a:avLst/>
          </a:prstGeom>
          <a:solidFill>
            <a:srgbClr val="3F87D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6" name="열머리 C2"/>
          <p:cNvSpPr txBox="1"/>
          <p:nvPr/>
        </p:nvSpPr>
        <p:spPr>
          <a:xfrm>
            <a:off x="4391919" y="1700784"/>
            <a:ext cx="3600302" cy="2249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② 미국현장 적용 방향</a:t>
            </a:r>
          </a:p>
        </p:txBody>
      </p:sp>
      <p:sp>
        <p:nvSpPr>
          <p:cNvPr id="1027" name="열머리선 C2"/>
          <p:cNvSpPr/>
          <p:nvPr/>
        </p:nvSpPr>
        <p:spPr>
          <a:xfrm>
            <a:off x="4291919" y="1965579"/>
            <a:ext cx="3700302" cy="9525"/>
          </a:xfrm>
          <a:prstGeom prst="rect">
            <a:avLst/>
          </a:prstGeom>
          <a:solidFill>
            <a:srgbClr val="3F87D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graphicFrame>
        <p:nvGraphicFramePr>
          <p:cNvPr id="1028" name="전이표"/>
          <p:cNvGraphicFramePr>
            <a:graphicFrameLocks noGrp="1"/>
          </p:cNvGraphicFramePr>
          <p:nvPr/>
        </p:nvGraphicFramePr>
        <p:xfrm>
          <a:off x="4291919" y="2029968"/>
          <a:ext cx="3700301" cy="1481328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187751"/>
                <a:gridCol w="251255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91440" marR="91440" marT="45720" marB="45720">
                    <a:solidFill>
                      <a:srgbClr val="2C64A4"/>
                    </a:solidFill>
                    <a:lnL w="9525" cap="flat" cmpd="sng" algn="ctr">
                      <a:solidFill>
                        <a:srgbClr val="2C64A4"/>
                      </a:solidFill>
                    </a:lnL>
                    <a:lnR w="9525" cap="flat" cmpd="sng" algn="ctr">
                      <a:solidFill>
                        <a:srgbClr val="2C64A4"/>
                      </a:solidFill>
                    </a:lnR>
                    <a:lnT w="9525" cap="flat" cmpd="sng" algn="ctr">
                      <a:solidFill>
                        <a:srgbClr val="2C64A4"/>
                      </a:solidFill>
                    </a:lnT>
                    <a:lnB w="9525" cap="flat" cmpd="sng" algn="ctr">
                      <a:solidFill>
                        <a:srgbClr val="2C64A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 전이 경로</a:t>
                      </a:r>
                    </a:p>
                  </a:txBody>
                  <a:tcPr marL="91440" marR="91440" marT="45720" marB="45720">
                    <a:solidFill>
                      <a:srgbClr val="2C64A4"/>
                    </a:solidFill>
                    <a:lnL w="9525" cap="flat" cmpd="sng" algn="ctr">
                      <a:solidFill>
                        <a:srgbClr val="2C64A4"/>
                      </a:solidFill>
                    </a:lnL>
                    <a:lnR w="9525" cap="flat" cmpd="sng" algn="ctr">
                      <a:solidFill>
                        <a:srgbClr val="2C64A4"/>
                      </a:solidFill>
                    </a:lnR>
                    <a:lnT w="9525" cap="flat" cmpd="sng" algn="ctr">
                      <a:solidFill>
                        <a:srgbClr val="2C64A4"/>
                      </a:solidFill>
                    </a:lnT>
                    <a:lnB w="9525" cap="flat" cmpd="sng" algn="ctr">
                      <a:solidFill>
                        <a:srgbClr val="2C64A4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허가 지연 → 공기 압박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구매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· 납기 지연 → 시공 순서 변경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간섭 · 재시공 → 후속 공정 지연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안전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재작업 · 작업중지 → 공기 · 원가 증가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만회 공정 → 안전 · 품질 재상승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28" name="스텝배지 1"/>
          <p:cNvSpPr/>
          <p:nvPr/>
        </p:nvSpPr>
        <p:spPr>
          <a:xfrm>
            <a:off x="4331919" y="3630448"/>
            <a:ext cx="145663" cy="145663"/>
          </a:xfrm>
          <a:prstGeom prst="ellipse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1</a:t>
            </a:r>
          </a:p>
        </p:txBody>
      </p:sp>
      <p:sp>
        <p:nvSpPr>
          <p:cNvPr id="1029" name="스텝제목 1"/>
          <p:cNvSpPr txBox="1"/>
          <p:nvPr/>
        </p:nvSpPr>
        <p:spPr>
          <a:xfrm>
            <a:off x="4572582" y="3603322"/>
            <a:ext cx="3369639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리스크 평가</a:t>
            </a:r>
          </a:p>
        </p:txBody>
      </p:sp>
      <p:sp>
        <p:nvSpPr>
          <p:cNvPr id="1030" name="스텝배지 2"/>
          <p:cNvSpPr/>
          <p:nvPr/>
        </p:nvSpPr>
        <p:spPr>
          <a:xfrm>
            <a:off x="4331919" y="3900196"/>
            <a:ext cx="145663" cy="145663"/>
          </a:xfrm>
          <a:prstGeom prst="ellipse">
            <a:avLst/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2</a:t>
            </a:r>
          </a:p>
        </p:txBody>
      </p:sp>
      <p:sp>
        <p:nvSpPr>
          <p:cNvPr id="1031" name="스텝제목 2"/>
          <p:cNvSpPr txBox="1"/>
          <p:nvPr/>
        </p:nvSpPr>
        <p:spPr>
          <a:xfrm>
            <a:off x="4572582" y="3873070"/>
            <a:ext cx="3369639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자원 · 우선순위 결정</a:t>
            </a:r>
          </a:p>
        </p:txBody>
      </p:sp>
      <p:sp>
        <p:nvSpPr>
          <p:cNvPr id="1032" name="스텝배지 3"/>
          <p:cNvSpPr/>
          <p:nvPr/>
        </p:nvSpPr>
        <p:spPr>
          <a:xfrm>
            <a:off x="4331919" y="4169944"/>
            <a:ext cx="145663" cy="145663"/>
          </a:xfrm>
          <a:prstGeom prst="ellipse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3</a:t>
            </a:r>
          </a:p>
        </p:txBody>
      </p:sp>
      <p:sp>
        <p:nvSpPr>
          <p:cNvPr id="1033" name="스텝제목 3"/>
          <p:cNvSpPr txBox="1"/>
          <p:nvPr/>
        </p:nvSpPr>
        <p:spPr>
          <a:xfrm>
            <a:off x="4572582" y="4142818"/>
            <a:ext cx="3369639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실행계획 이행</a:t>
            </a:r>
          </a:p>
        </p:txBody>
      </p:sp>
      <p:sp>
        <p:nvSpPr>
          <p:cNvPr id="1034" name="스텝바탕 4"/>
          <p:cNvSpPr/>
          <p:nvPr/>
        </p:nvSpPr>
        <p:spPr>
          <a:xfrm>
            <a:off x="4291919" y="4393692"/>
            <a:ext cx="3700302" cy="231748"/>
          </a:xfrm>
          <a:prstGeom prst="roundRect">
            <a:avLst>
              <a:gd name="adj" fmla="val 7000"/>
            </a:avLst>
          </a:prstGeom>
          <a:solidFill>
            <a:srgbClr val="EDF6F3"/>
          </a:solidFill>
          <a:ln w="9525">
            <a:solidFill>
              <a:srgbClr val="D3E7E1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5" name="스텝배지 4"/>
          <p:cNvSpPr/>
          <p:nvPr/>
        </p:nvSpPr>
        <p:spPr>
          <a:xfrm>
            <a:off x="4331919" y="4439692"/>
            <a:ext cx="145663" cy="145663"/>
          </a:xfrm>
          <a:prstGeom prst="ellipse">
            <a:avLst/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4</a:t>
            </a:r>
          </a:p>
        </p:txBody>
      </p:sp>
      <p:sp>
        <p:nvSpPr>
          <p:cNvPr id="1036" name="스텝제목 4"/>
          <p:cNvSpPr txBox="1"/>
          <p:nvPr/>
        </p:nvSpPr>
        <p:spPr>
          <a:xfrm>
            <a:off x="4572582" y="4412566"/>
            <a:ext cx="3369639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추적 · 종결 → ①로 재투입</a:t>
            </a:r>
          </a:p>
        </p:txBody>
      </p:sp>
      <p:graphicFrame>
        <p:nvGraphicFramePr>
          <p:cNvPr id="1037" name="자원표"/>
          <p:cNvGraphicFramePr>
            <a:graphicFrameLocks noGrp="1"/>
          </p:cNvGraphicFramePr>
          <p:nvPr/>
        </p:nvGraphicFramePr>
        <p:xfrm>
          <a:off x="4291919" y="4736592"/>
          <a:ext cx="3700301" cy="100584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187751"/>
                <a:gridCol w="251255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 수준</a:t>
                      </a:r>
                    </a:p>
                  </a:txBody>
                  <a:tcPr marL="91440" marR="91440" marT="45720" marB="45720">
                    <a:solidFill>
                      <a:srgbClr val="2C64A4"/>
                    </a:solidFill>
                    <a:lnL w="9525" cap="flat" cmpd="sng" algn="ctr">
                      <a:solidFill>
                        <a:srgbClr val="2C64A4"/>
                      </a:solidFill>
                    </a:lnL>
                    <a:lnR w="9525" cap="flat" cmpd="sng" algn="ctr">
                      <a:solidFill>
                        <a:srgbClr val="2C64A4"/>
                      </a:solidFill>
                    </a:lnR>
                    <a:lnT w="9525" cap="flat" cmpd="sng" algn="ctr">
                      <a:solidFill>
                        <a:srgbClr val="2C64A4"/>
                      </a:solidFill>
                    </a:lnT>
                    <a:lnB w="9525" cap="flat" cmpd="sng" algn="ctr">
                      <a:solidFill>
                        <a:srgbClr val="2C64A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배분</a:t>
                      </a:r>
                    </a:p>
                  </a:txBody>
                  <a:tcPr marL="91440" marR="91440" marT="45720" marB="45720">
                    <a:solidFill>
                      <a:srgbClr val="2C64A4"/>
                    </a:solidFill>
                    <a:lnL w="9525" cap="flat" cmpd="sng" algn="ctr">
                      <a:solidFill>
                        <a:srgbClr val="2C64A4"/>
                      </a:solidFill>
                    </a:lnL>
                    <a:lnR w="9525" cap="flat" cmpd="sng" algn="ctr">
                      <a:solidFill>
                        <a:srgbClr val="2C64A4"/>
                      </a:solidFill>
                    </a:lnR>
                    <a:lnT w="9525" cap="flat" cmpd="sng" algn="ctr">
                      <a:solidFill>
                        <a:srgbClr val="2C64A4"/>
                      </a:solidFill>
                    </a:lnT>
                    <a:lnB w="9525" cap="flat" cmpd="sng" algn="ctr">
                      <a:solidFill>
                        <a:srgbClr val="2C64A4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· 예산 · 검사 우선 투입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중위험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수준 유지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저위험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투입, 고위험으로 재배분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37" name="열머리표식 C3"/>
          <p:cNvSpPr/>
          <p:nvPr/>
        </p:nvSpPr>
        <p:spPr>
          <a:xfrm>
            <a:off x="8156722" y="1728216"/>
            <a:ext cx="52000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8" name="열머리 C3"/>
          <p:cNvSpPr txBox="1"/>
          <p:nvPr/>
        </p:nvSpPr>
        <p:spPr>
          <a:xfrm>
            <a:off x="8256722" y="1700784"/>
            <a:ext cx="3600302" cy="22494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③ 전담 운영 체계</a:t>
            </a:r>
          </a:p>
        </p:txBody>
      </p:sp>
      <p:sp>
        <p:nvSpPr>
          <p:cNvPr id="1039" name="열머리선 C3"/>
          <p:cNvSpPr/>
          <p:nvPr/>
        </p:nvSpPr>
        <p:spPr>
          <a:xfrm>
            <a:off x="8156722" y="1965579"/>
            <a:ext cx="3700302" cy="9525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0" name="스텝배지 1"/>
          <p:cNvSpPr/>
          <p:nvPr/>
        </p:nvSpPr>
        <p:spPr>
          <a:xfrm>
            <a:off x="8196722" y="2075968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1</a:t>
            </a:r>
          </a:p>
        </p:txBody>
      </p:sp>
      <p:sp>
        <p:nvSpPr>
          <p:cNvPr id="1041" name="스텝제목 1"/>
          <p:cNvSpPr txBox="1"/>
          <p:nvPr/>
        </p:nvSpPr>
        <p:spPr>
          <a:xfrm>
            <a:off x="8444792" y="2055700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리스크 통합 관리</a:t>
            </a:r>
          </a:p>
        </p:txBody>
      </p:sp>
      <p:sp>
        <p:nvSpPr>
          <p:cNvPr id="1042" name="스텝배지 2"/>
          <p:cNvSpPr/>
          <p:nvPr/>
        </p:nvSpPr>
        <p:spPr>
          <a:xfrm>
            <a:off x="8196722" y="2359432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2</a:t>
            </a:r>
          </a:p>
        </p:txBody>
      </p:sp>
      <p:sp>
        <p:nvSpPr>
          <p:cNvPr id="1043" name="스텝제목 2"/>
          <p:cNvSpPr txBox="1"/>
          <p:nvPr/>
        </p:nvSpPr>
        <p:spPr>
          <a:xfrm>
            <a:off x="8444792" y="2339164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RBE-i 맞춤 개선</a:t>
            </a:r>
          </a:p>
        </p:txBody>
      </p:sp>
      <p:sp>
        <p:nvSpPr>
          <p:cNvPr id="1044" name="스텝배지 3"/>
          <p:cNvSpPr/>
          <p:nvPr/>
        </p:nvSpPr>
        <p:spPr>
          <a:xfrm>
            <a:off x="8196722" y="2642896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3</a:t>
            </a:r>
          </a:p>
        </p:txBody>
      </p:sp>
      <p:sp>
        <p:nvSpPr>
          <p:cNvPr id="1045" name="스텝제목 3"/>
          <p:cNvSpPr txBox="1"/>
          <p:nvPr/>
        </p:nvSpPr>
        <p:spPr>
          <a:xfrm>
            <a:off x="8444792" y="2622628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실행 · 자원 연계</a:t>
            </a:r>
          </a:p>
        </p:txBody>
      </p:sp>
      <p:sp>
        <p:nvSpPr>
          <p:cNvPr id="1046" name="스텝배지 4"/>
          <p:cNvSpPr/>
          <p:nvPr/>
        </p:nvSpPr>
        <p:spPr>
          <a:xfrm>
            <a:off x="8196722" y="2926360"/>
            <a:ext cx="153070" cy="153070"/>
          </a:xfrm>
          <a:prstGeom prst="ellipse">
            <a:avLst/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4</a:t>
            </a:r>
          </a:p>
        </p:txBody>
      </p:sp>
      <p:sp>
        <p:nvSpPr>
          <p:cNvPr id="1047" name="스텝제목 4"/>
          <p:cNvSpPr txBox="1"/>
          <p:nvPr/>
        </p:nvSpPr>
        <p:spPr>
          <a:xfrm>
            <a:off x="8444792" y="2906092"/>
            <a:ext cx="3362232" cy="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10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추적 · 종결 책임</a:t>
            </a:r>
          </a:p>
        </p:txBody>
      </p:sp>
      <p:graphicFrame>
        <p:nvGraphicFramePr>
          <p:cNvPr id="1048" name="대안표"/>
          <p:cNvGraphicFramePr>
            <a:graphicFrameLocks noGrp="1"/>
          </p:cNvGraphicFramePr>
          <p:nvPr/>
        </p:nvGraphicFramePr>
        <p:xfrm>
          <a:off x="8156722" y="3236976"/>
          <a:ext cx="3700301" cy="100584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370482"/>
                <a:gridCol w="2329819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대안</a:t>
                      </a:r>
                    </a:p>
                  </a:txBody>
                  <a:tcPr marL="91440" marR="91440" marT="45720" marB="45720">
                    <a:solidFill>
                      <a:srgbClr val="155A4E"/>
                    </a:solidFill>
                    <a:lnL w="9525" cap="flat" cmpd="sng" algn="ctr">
                      <a:solidFill>
                        <a:srgbClr val="155A4E"/>
                      </a:solidFill>
                    </a:lnL>
                    <a:lnR w="9525" cap="flat" cmpd="sng" algn="ctr">
                      <a:solidFill>
                        <a:srgbClr val="155A4E"/>
                      </a:solidFill>
                    </a:lnR>
                    <a:lnT w="9525" cap="flat" cmpd="sng" algn="ctr">
                      <a:solidFill>
                        <a:srgbClr val="155A4E"/>
                      </a:solidFill>
                    </a:lnT>
                    <a:lnB w="9525" cap="flat" cmpd="sng" algn="ctr">
                      <a:solidFill>
                        <a:srgbClr val="155A4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채워지지 않는 범위</a:t>
                      </a:r>
                    </a:p>
                  </a:txBody>
                  <a:tcPr marL="91440" marR="91440" marT="45720" marB="45720">
                    <a:solidFill>
                      <a:srgbClr val="155A4E"/>
                    </a:solidFill>
                    <a:lnL w="9525" cap="flat" cmpd="sng" algn="ctr">
                      <a:solidFill>
                        <a:srgbClr val="155A4E"/>
                      </a:solidFill>
                    </a:lnL>
                    <a:lnR w="9525" cap="flat" cmpd="sng" algn="ctr">
                      <a:solidFill>
                        <a:srgbClr val="155A4E"/>
                      </a:solidFill>
                    </a:lnR>
                    <a:lnT w="9525" cap="flat" cmpd="sng" algn="ctr">
                      <a:solidFill>
                        <a:srgbClr val="155A4E"/>
                      </a:solidFill>
                    </a:lnT>
                    <a:lnB w="9525" cap="flat" cmpd="sng" algn="ctr">
                      <a:solidFill>
                        <a:srgbClr val="155A4E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인력 겸임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 재설계, 부서 간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파견 6개월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 중기 이후 리스크 변화 대응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원격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맥락 수집, 즉시 의사결정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49" name="자격표"/>
          <p:cNvGraphicFramePr>
            <a:graphicFrameLocks noGrp="1"/>
          </p:cNvGraphicFramePr>
          <p:nvPr/>
        </p:nvGraphicFramePr>
        <p:xfrm>
          <a:off x="8156722" y="4315968"/>
          <a:ext cx="3700301" cy="1426464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370482"/>
                <a:gridCol w="2329819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자격요건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 방법론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RBI · AIM 기반 평가체계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직접 개선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 · 기능 · 데이터 구조 수정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적용 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건설현장 RBE-i 적용 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간 실행 조정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부서별 조치 연계 · 종결 관리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48" name="핵심메시지"/>
          <p:cNvSpPr/>
          <p:nvPr/>
        </p:nvSpPr>
        <p:spPr>
          <a:xfrm>
            <a:off x="427025" y="5870448"/>
            <a:ext cx="11430000" cy="53035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9" name="핵심메시지 액센트"/>
          <p:cNvSpPr/>
          <p:nvPr/>
        </p:nvSpPr>
        <p:spPr>
          <a:xfrm>
            <a:off x="527025" y="5980448"/>
            <a:ext cx="48000" cy="310352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0" name="핵심메시지 문구"/>
          <p:cNvSpPr txBox="1"/>
          <p:nvPr/>
        </p:nvSpPr>
        <p:spPr>
          <a:xfrm>
            <a:off x="667025" y="5870448"/>
            <a:ext cx="110300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요청 사항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미국현장 RBE-i 전담 역할과 자격요건의 승인 (범위 : 착수 ~ Hand-over 완료) — 적임자 지정은 해당 요건에 따라 판단. 도출된 적용 가능 항목 160건을 제대로 반영하려면 RBE-i 개선이 선행되어야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29547</TotalTime>
  <Words>2743</Words>
  <Application>Microsoft Office PowerPoint</Application>
  <PresentationFormat>와이드스크린</PresentationFormat>
  <Paragraphs>1022</Paragraphs>
  <Slides>4</Slides>
  <Notes>2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PowerPoint 프레젠테이션</vt:lpstr>
      <vt:lpstr>목  차 </vt:lpstr>
      <vt:lpstr>슬라이드제목</vt:lpstr>
      <vt:lpstr>PowerPoint 프레젠테이션</vt:lpstr>
    </vt:vector>
  </TitlesOfParts>
  <Company>HDEC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김혜윤(KIM HAE YUN)</dc:creator>
  <cp:lastModifiedBy>kihun song</cp:lastModifiedBy>
  <cp:revision>1463</cp:revision>
  <cp:lastPrinted>2022-05-11T23:15:41Z</cp:lastPrinted>
  <dcterms:created xsi:type="dcterms:W3CDTF">2011-02-08T05:54:54Z</dcterms:created>
  <dcterms:modified xsi:type="dcterms:W3CDTF">2026-09-02T01:01:49Z</dcterms:modified>
</cp:coreProperties>
</file>